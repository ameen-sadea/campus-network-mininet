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c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176B87" accent2="2A9D8F" accent3="F4A261" accent4="E76F51" accent5="5B8FA3" accent6="829AB1" bg1="F7F4ED" bg2="EAF4F7" dk1="102A43" dk2="183B56" folHlink="954F72" hlink="0563C1" lt1="FFFFFF" lt2="D9EAF0" tx1="102A43" tx2="627D98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" name="Text 3"/>
          <p:cNvSpPr txBox="1"/>
          <p:nvPr/>
        </p:nvSpPr>
        <p:spPr>
          <a:xfrm>
            <a:off x="650000" y="670000"/>
            <a:ext cx="3100000" cy="3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200" b="1" dirty="0">
                <a:solidFill>
                  <a:srgbClr val="F4A261"/>
                </a:solidFill>
                <a:latin typeface="Microsoft YaHei"/>
                <a:ea typeface="Microsoft YaHei"/>
              </a:rPr>
              <a:t>COMPUTER NETWORK · TEAM 12</a:t>
            </a:r>
            <a:endParaRPr lang="zh-CN" sz="1200"/>
          </a:p>
        </p:txBody>
      </p:sp>
      <p:sp>
        <p:nvSpPr>
          <p:cNvPr id="4" name="Text 4"/>
          <p:cNvSpPr txBox="1"/>
          <p:nvPr/>
        </p:nvSpPr>
        <p:spPr>
          <a:xfrm>
            <a:off x="650000" y="1350000"/>
            <a:ext cx="75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Microsoft YaHei"/>
                <a:ea typeface="Microsoft YaHei"/>
              </a:rPr>
              <a:t>基于 Mininet 的</a:t>
            </a:r>
            <a:endParaRPr lang="zh-CN" sz="3600"/>
          </a:p>
          <a:p>
            <a:pPr algn="l"/>
            <a:r>
              <a:rPr lang="zh-CN" sz="3600" b="1" dirty="0">
                <a:solidFill>
                  <a:srgbClr val="FFFFFF"/>
                </a:solidFill>
                <a:latin typeface="Microsoft YaHei"/>
                <a:ea typeface="Microsoft YaHei"/>
              </a:rPr>
              <a:t>校园网构建</a:t>
            </a:r>
            <a:endParaRPr lang="zh-CN" sz="3600"/>
          </a:p>
        </p:txBody>
      </p:sp>
      <p:sp>
        <p:nvSpPr>
          <p:cNvPr id="5" name="Text 5"/>
          <p:cNvSpPr txBox="1"/>
          <p:nvPr/>
        </p:nvSpPr>
        <p:spPr>
          <a:xfrm>
            <a:off x="680000" y="2700000"/>
            <a:ext cx="65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D9EAF0"/>
                </a:solidFill>
                <a:latin typeface="Microsoft YaHei"/>
                <a:ea typeface="Microsoft YaHei"/>
              </a:rPr>
              <a:t>从分层架构到安全边界的可运行仿真</a:t>
            </a:r>
            <a:endParaRPr lang="zh-CN" sz="2000"/>
          </a:p>
        </p:txBody>
      </p:sp>
      <p:sp>
        <p:nvSpPr>
          <p:cNvPr id="6" name="Text 6"/>
          <p:cNvSpPr txBox="1"/>
          <p:nvPr/>
        </p:nvSpPr>
        <p:spPr>
          <a:xfrm>
            <a:off x="680000" y="5100000"/>
            <a:ext cx="3100000" cy="620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300" b="1" dirty="0">
                <a:solidFill>
                  <a:srgbClr val="102A43"/>
                </a:solidFill>
                <a:latin typeface="Microsoft YaHei"/>
                <a:ea typeface="Microsoft YaHei"/>
              </a:rPr>
              <a:t>5–6 MINUTES</a:t>
            </a:r>
            <a:endParaRPr lang="zh-CN" sz="1300"/>
          </a:p>
        </p:txBody>
      </p:sp>
      <p:sp>
        <p:nvSpPr>
          <p:cNvPr id="7" name="Text 7"/>
          <p:cNvSpPr txBox="1"/>
          <p:nvPr/>
        </p:nvSpPr>
        <p:spPr>
          <a:xfrm>
            <a:off x="680000" y="5850000"/>
            <a:ext cx="55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200" b="0" dirty="0">
                <a:solidFill>
                  <a:srgbClr val="B7CFD8"/>
                </a:solidFill>
                <a:latin typeface="Microsoft YaHei"/>
                <a:ea typeface="Microsoft YaHei"/>
              </a:rPr>
              <a:t>核心 · 汇聚 · 接入  /  VLAN  /  DMZ  /  VPN</a:t>
            </a:r>
            <a:endParaRPr lang="zh-CN" sz="1200"/>
          </a:p>
        </p:txBody>
      </p:sp>
      <p:sp>
        <p:nvSpPr>
          <p:cNvPr id="10" name="Circle 10"/>
          <p:cNvSpPr/>
          <p:nvPr/>
        </p:nvSpPr>
        <p:spPr>
          <a:xfrm>
            <a:off x="8550000" y="1200000"/>
            <a:ext cx="900000" cy="90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</a:rPr>
              <a:t>fw1</a:t>
            </a:r>
            <a:endParaRPr lang="zh-CN" sz="1800"/>
          </a:p>
        </p:txBody>
      </p:sp>
      <p:sp>
        <p:nvSpPr>
          <p:cNvPr id="11" name="Circle 11"/>
          <p:cNvSpPr/>
          <p:nvPr/>
        </p:nvSpPr>
        <p:spPr>
          <a:xfrm>
            <a:off x="7450000" y="2750000"/>
            <a:ext cx="780000" cy="78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700" b="1" dirty="0">
                <a:solidFill>
                  <a:srgbClr val="FFFFFF"/>
                </a:solidFill>
                <a:latin typeface="Microsoft YaHei"/>
                <a:ea typeface="Microsoft YaHei"/>
              </a:rPr>
              <a:t>cs1</a:t>
            </a:r>
            <a:endParaRPr lang="zh-CN" sz="1700"/>
          </a:p>
        </p:txBody>
      </p:sp>
      <p:sp>
        <p:nvSpPr>
          <p:cNvPr id="12" name="Circle 12"/>
          <p:cNvSpPr/>
          <p:nvPr/>
        </p:nvSpPr>
        <p:spPr>
          <a:xfrm>
            <a:off x="9600000" y="2750000"/>
            <a:ext cx="780000" cy="78000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</a:rPr>
              <a:t>DMZ</a:t>
            </a:r>
            <a:endParaRPr lang="zh-CN" sz="1500"/>
          </a:p>
        </p:txBody>
      </p:sp>
      <p:sp>
        <p:nvSpPr>
          <p:cNvPr id="13" name="Circle 13"/>
          <p:cNvSpPr/>
          <p:nvPr/>
        </p:nvSpPr>
        <p:spPr>
          <a:xfrm>
            <a:off x="10700000" y="1400000"/>
            <a:ext cx="700000" cy="7000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公网</a:t>
            </a:r>
            <a:endParaRPr lang="zh-CN" sz="1400"/>
          </a:p>
        </p:txBody>
      </p:sp>
      <p:sp>
        <p:nvSpPr>
          <p:cNvPr id="14" name="Circle 14"/>
          <p:cNvSpPr/>
          <p:nvPr/>
        </p:nvSpPr>
        <p:spPr>
          <a:xfrm>
            <a:off x="7900000" y="4450000"/>
            <a:ext cx="620000" cy="620000"/>
          </a:xfrm>
          <a:prstGeom prst="ellipse">
            <a:avLst/>
          </a:prstGeom>
          <a:solidFill>
            <a:srgbClr val="5B8FA3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接入</a:t>
            </a:r>
            <a:endParaRPr lang="zh-CN" sz="1300"/>
          </a:p>
        </p:txBody>
      </p:sp>
      <p:sp>
        <p:nvSpPr>
          <p:cNvPr id="15" name="Circle 15"/>
          <p:cNvSpPr/>
          <p:nvPr/>
        </p:nvSpPr>
        <p:spPr>
          <a:xfrm>
            <a:off x="9400000" y="4450000"/>
            <a:ext cx="620000" cy="620000"/>
          </a:xfrm>
          <a:prstGeom prst="ellipse">
            <a:avLst/>
          </a:prstGeom>
          <a:solidFill>
            <a:srgbClr val="5B8FA3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接入</a:t>
            </a:r>
            <a:endParaRPr lang="zh-CN" sz="1300"/>
          </a:p>
        </p:txBody>
      </p:sp>
      <p:cxnSp>
        <p:nvCxnSpPr>
          <p:cNvPr id="20" name="Line 20"/>
          <p:cNvCxnSpPr/>
          <p:nvPr/>
        </p:nvCxnSpPr>
        <p:spPr>
          <a:xfrm>
            <a:off x="7900000" y="2050000"/>
            <a:ext cx="850000" cy="700000"/>
          </a:xfrm>
          <a:prstGeom prst="line">
            <a:avLst/>
          </a:prstGeom>
          <a:ln w="26000">
            <a:solidFill>
              <a:srgbClr val="6D91A0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450000" y="2050000"/>
            <a:ext cx="-500000" cy="700000"/>
          </a:xfrm>
          <a:prstGeom prst="line">
            <a:avLst/>
          </a:prstGeom>
          <a:ln w="26000">
            <a:solidFill>
              <a:srgbClr val="6D91A0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450000" y="1600000"/>
            <a:ext cx="1250000" cy="0"/>
          </a:xfrm>
          <a:prstGeom prst="line">
            <a:avLst/>
          </a:prstGeom>
          <a:ln w="26000">
            <a:solidFill>
              <a:srgbClr val="6D91A0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7800000" y="3500000"/>
            <a:ext cx="300000" cy="1000000"/>
          </a:xfrm>
          <a:prstGeom prst="line">
            <a:avLst/>
          </a:prstGeom>
          <a:ln w="22000">
            <a:solidFill>
              <a:srgbClr val="6D91A0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7850000" y="3350000"/>
            <a:ext cx="1750000" cy="1100000"/>
          </a:xfrm>
          <a:prstGeom prst="line">
            <a:avLst/>
          </a:prstGeom>
          <a:ln w="22000">
            <a:solidFill>
              <a:srgbClr val="6D91A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80000" y="2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100" b="1" dirty="0">
                <a:solidFill>
                  <a:srgbClr val="2A9D8F"/>
                </a:solidFill>
                <a:latin typeface="Microsoft YaHei"/>
                <a:ea typeface="Microsoft YaHei"/>
              </a:rPr>
              <a:t>01 / 项目定位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480000" y="530000"/>
            <a:ext cx="104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700" b="1" dirty="0">
                <a:solidFill>
                  <a:srgbClr val="102A43"/>
                </a:solidFill>
                <a:latin typeface="Microsoft YaHei"/>
                <a:ea typeface="Microsoft YaHei"/>
              </a:rPr>
              <a:t>我们构建的，不只是一张能 Ping 通的拓扑</a:t>
            </a:r>
            <a:endParaRPr lang="zh-CN" sz="2700"/>
          </a:p>
        </p:txBody>
      </p:sp>
      <p:cxnSp>
        <p:nvCxnSpPr>
          <p:cNvPr id="4" name="Line 4"/>
          <p:cNvCxnSpPr/>
          <p:nvPr/>
        </p:nvCxnSpPr>
        <p:spPr>
          <a:xfrm>
            <a:off x="480000" y="1160000"/>
            <a:ext cx="11200000" cy="0"/>
          </a:xfrm>
          <a:prstGeom prst="line">
            <a:avLst/>
          </a:prstGeom>
          <a:ln w="14000">
            <a:solidFill>
              <a:srgbClr val="C7D8E0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11100000" y="63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r"/>
            <a:r>
              <a:rPr lang="zh-CN" sz="1000" b="1" dirty="0">
                <a:solidFill>
                  <a:srgbClr val="627D98"/>
                </a:solidFill>
                <a:latin typeface="Microsoft YaHei"/>
                <a:ea typeface="Microsoft YaHei"/>
              </a:rPr>
              <a:t>02</a:t>
            </a:r>
            <a:endParaRPr lang="zh-CN" sz="1000"/>
          </a:p>
        </p:txBody>
      </p:sp>
      <p:sp>
        <p:nvSpPr>
          <p:cNvPr id="10" name="Text 10"/>
          <p:cNvSpPr txBox="1"/>
          <p:nvPr/>
        </p:nvSpPr>
        <p:spPr>
          <a:xfrm>
            <a:off x="520000" y="1510000"/>
            <a:ext cx="2480000" cy="11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E0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0" name="Text 20"/>
          <p:cNvSpPr txBox="1"/>
          <p:nvPr/>
        </p:nvSpPr>
        <p:spPr>
          <a:xfrm>
            <a:off x="700000" y="1620000"/>
            <a:ext cx="65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3000" b="1" dirty="0">
                <a:solidFill>
                  <a:srgbClr val="176B87"/>
                </a:solidFill>
                <a:latin typeface="Microsoft YaHei"/>
                <a:ea typeface="Microsoft YaHei"/>
              </a:rPr>
              <a:t>2</a:t>
            </a:r>
            <a:endParaRPr lang="zh-CN" sz="3000"/>
          </a:p>
        </p:txBody>
      </p:sp>
      <p:sp>
        <p:nvSpPr>
          <p:cNvPr id="30" name="Text 30"/>
          <p:cNvSpPr txBox="1"/>
          <p:nvPr/>
        </p:nvSpPr>
        <p:spPr>
          <a:xfrm>
            <a:off x="700000" y="2190000"/>
            <a:ext cx="2000000" cy="2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300" b="1" dirty="0">
                <a:solidFill>
                  <a:srgbClr val="627D98"/>
                </a:solidFill>
                <a:latin typeface="Microsoft YaHei"/>
                <a:ea typeface="Microsoft YaHei"/>
              </a:rPr>
              <a:t>核心交换机</a:t>
            </a:r>
            <a:endParaRPr lang="zh-CN" sz="1300"/>
          </a:p>
        </p:txBody>
      </p:sp>
      <p:sp>
        <p:nvSpPr>
          <p:cNvPr id="11" name="Text 11"/>
          <p:cNvSpPr txBox="1"/>
          <p:nvPr/>
        </p:nvSpPr>
        <p:spPr>
          <a:xfrm>
            <a:off x="3370000" y="1510000"/>
            <a:ext cx="2480000" cy="11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E0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1" name="Text 21"/>
          <p:cNvSpPr txBox="1"/>
          <p:nvPr/>
        </p:nvSpPr>
        <p:spPr>
          <a:xfrm>
            <a:off x="3550000" y="1620000"/>
            <a:ext cx="65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3000" b="1" dirty="0">
                <a:solidFill>
                  <a:srgbClr val="2A9D8F"/>
                </a:solidFill>
                <a:latin typeface="Microsoft YaHei"/>
                <a:ea typeface="Microsoft YaHei"/>
              </a:rPr>
              <a:t>4</a:t>
            </a:r>
            <a:endParaRPr lang="zh-CN" sz="3000"/>
          </a:p>
        </p:txBody>
      </p:sp>
      <p:sp>
        <p:nvSpPr>
          <p:cNvPr id="31" name="Text 31"/>
          <p:cNvSpPr txBox="1"/>
          <p:nvPr/>
        </p:nvSpPr>
        <p:spPr>
          <a:xfrm>
            <a:off x="3550000" y="2190000"/>
            <a:ext cx="2000000" cy="2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300" b="1" dirty="0">
                <a:solidFill>
                  <a:srgbClr val="627D98"/>
                </a:solidFill>
                <a:latin typeface="Microsoft YaHei"/>
                <a:ea typeface="Microsoft YaHei"/>
              </a:rPr>
              <a:t>汇聚交换机</a:t>
            </a:r>
            <a:endParaRPr lang="zh-CN" sz="1300"/>
          </a:p>
        </p:txBody>
      </p:sp>
      <p:sp>
        <p:nvSpPr>
          <p:cNvPr id="12" name="Text 12"/>
          <p:cNvSpPr txBox="1"/>
          <p:nvPr/>
        </p:nvSpPr>
        <p:spPr>
          <a:xfrm>
            <a:off x="6220000" y="1510000"/>
            <a:ext cx="2480000" cy="11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E0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2" name="Text 22"/>
          <p:cNvSpPr txBox="1"/>
          <p:nvPr/>
        </p:nvSpPr>
        <p:spPr>
          <a:xfrm>
            <a:off x="6400000" y="1620000"/>
            <a:ext cx="65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3000" b="1" dirty="0">
                <a:solidFill>
                  <a:srgbClr val="F4A261"/>
                </a:solidFill>
                <a:latin typeface="Microsoft YaHei"/>
                <a:ea typeface="Microsoft YaHei"/>
              </a:rPr>
              <a:t>18</a:t>
            </a:r>
            <a:endParaRPr lang="zh-CN" sz="3000"/>
          </a:p>
        </p:txBody>
      </p:sp>
      <p:sp>
        <p:nvSpPr>
          <p:cNvPr id="32" name="Text 32"/>
          <p:cNvSpPr txBox="1"/>
          <p:nvPr/>
        </p:nvSpPr>
        <p:spPr>
          <a:xfrm>
            <a:off x="6400000" y="2190000"/>
            <a:ext cx="2000000" cy="2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300" b="1" dirty="0">
                <a:solidFill>
                  <a:srgbClr val="627D98"/>
                </a:solidFill>
                <a:latin typeface="Microsoft YaHei"/>
                <a:ea typeface="Microsoft YaHei"/>
              </a:rPr>
              <a:t>接入交换机</a:t>
            </a:r>
            <a:endParaRPr lang="zh-CN" sz="1300"/>
          </a:p>
        </p:txBody>
      </p:sp>
      <p:sp>
        <p:nvSpPr>
          <p:cNvPr id="13" name="Text 13"/>
          <p:cNvSpPr txBox="1"/>
          <p:nvPr/>
        </p:nvSpPr>
        <p:spPr>
          <a:xfrm>
            <a:off x="9070000" y="1510000"/>
            <a:ext cx="2480000" cy="11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E0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3" name="Text 23"/>
          <p:cNvSpPr txBox="1"/>
          <p:nvPr/>
        </p:nvSpPr>
        <p:spPr>
          <a:xfrm>
            <a:off x="9250000" y="1620000"/>
            <a:ext cx="65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3000" b="1" dirty="0">
                <a:solidFill>
                  <a:srgbClr val="E76F51"/>
                </a:solidFill>
                <a:latin typeface="Microsoft YaHei"/>
                <a:ea typeface="Microsoft YaHei"/>
              </a:rPr>
              <a:t>31</a:t>
            </a:r>
            <a:endParaRPr lang="zh-CN" sz="3000"/>
          </a:p>
        </p:txBody>
      </p:sp>
      <p:sp>
        <p:nvSpPr>
          <p:cNvPr id="33" name="Text 33"/>
          <p:cNvSpPr txBox="1"/>
          <p:nvPr/>
        </p:nvSpPr>
        <p:spPr>
          <a:xfrm>
            <a:off x="9250000" y="2190000"/>
            <a:ext cx="2000000" cy="2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300" b="1" dirty="0">
                <a:solidFill>
                  <a:srgbClr val="627D98"/>
                </a:solidFill>
                <a:latin typeface="Microsoft YaHei"/>
                <a:ea typeface="Microsoft YaHei"/>
              </a:rPr>
              <a:t>主机与服务器</a:t>
            </a:r>
            <a:endParaRPr lang="zh-CN" sz="1300"/>
          </a:p>
        </p:txBody>
      </p:sp>
      <p:sp>
        <p:nvSpPr>
          <p:cNvPr id="40" name="Text 40"/>
          <p:cNvSpPr txBox="1"/>
          <p:nvPr/>
        </p:nvSpPr>
        <p:spPr>
          <a:xfrm>
            <a:off x="520000" y="304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102A43"/>
                </a:solidFill>
                <a:latin typeface="Microsoft YaHei"/>
                <a:ea typeface="Microsoft YaHei"/>
              </a:rPr>
              <a:t>课程基础要求</a:t>
            </a:r>
            <a:endParaRPr lang="zh-CN" sz="1500"/>
          </a:p>
        </p:txBody>
      </p:sp>
      <p:sp>
        <p:nvSpPr>
          <p:cNvPr id="41" name="Text 41"/>
          <p:cNvSpPr txBox="1"/>
          <p:nvPr/>
        </p:nvSpPr>
        <p:spPr>
          <a:xfrm>
            <a:off x="520000" y="3510000"/>
            <a:ext cx="3500000" cy="1450000"/>
          </a:xfrm>
          <a:prstGeom prst="roundRect">
            <a:avLst/>
          </a:prstGeom>
          <a:solidFill>
            <a:srgbClr val="EAF4F7"/>
          </a:solidFill>
          <a:ln>
            <a:noFill/>
          </a:ln>
        </p:spPr>
        <p:txBody>
          <a:bodyPr wrap="square" anchor="mid" lIns="230000" rIns="230000" tIns="115000" bIns="115000"/>
          <a:lstStyle/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VLAN 二层隔离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跨网段三层路由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服务器区访问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ACL 访问控制</a:t>
            </a:r>
            <a:endParaRPr lang="zh-CN" sz="1800"/>
          </a:p>
        </p:txBody>
      </p:sp>
      <p:sp>
        <p:nvSpPr>
          <p:cNvPr id="42" name="Text 42"/>
          <p:cNvSpPr txBox="1"/>
          <p:nvPr/>
        </p:nvSpPr>
        <p:spPr>
          <a:xfrm>
            <a:off x="4350000" y="304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102A43"/>
                </a:solidFill>
                <a:latin typeface="Microsoft YaHei"/>
                <a:ea typeface="Microsoft YaHei"/>
              </a:rPr>
              <a:t>面向真实业务扩展</a:t>
            </a:r>
            <a:endParaRPr lang="zh-CN" sz="1500"/>
          </a:p>
        </p:txBody>
      </p:sp>
      <p:sp>
        <p:nvSpPr>
          <p:cNvPr id="43" name="Text 43"/>
          <p:cNvSpPr txBox="1"/>
          <p:nvPr/>
        </p:nvSpPr>
        <p:spPr>
          <a:xfrm>
            <a:off x="4350000" y="3510000"/>
            <a:ext cx="3500000" cy="14500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txBody>
          <a:bodyPr wrap="square" anchor="mid" lIns="230000" rIns="230000" tIns="115000" bIns="115000"/>
          <a:lstStyle/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主 / 分校区互联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公网与 DMZ 隔离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GRE 远程安全接入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边界出入站控制</a:t>
            </a:r>
            <a:endParaRPr lang="zh-CN" sz="1800"/>
          </a:p>
        </p:txBody>
      </p:sp>
      <p:sp>
        <p:nvSpPr>
          <p:cNvPr id="44" name="Text 44"/>
          <p:cNvSpPr txBox="1"/>
          <p:nvPr/>
        </p:nvSpPr>
        <p:spPr>
          <a:xfrm>
            <a:off x="8180000" y="3040000"/>
            <a:ext cx="35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102A43"/>
                </a:solidFill>
                <a:latin typeface="Microsoft YaHei"/>
                <a:ea typeface="Microsoft YaHei"/>
              </a:rPr>
              <a:t>最终呈现</a:t>
            </a:r>
            <a:endParaRPr lang="zh-CN" sz="1500"/>
          </a:p>
        </p:txBody>
      </p:sp>
      <p:sp>
        <p:nvSpPr>
          <p:cNvPr id="45" name="Text 45"/>
          <p:cNvSpPr txBox="1"/>
          <p:nvPr/>
        </p:nvSpPr>
        <p:spPr>
          <a:xfrm>
            <a:off x="8180000" y="3510000"/>
            <a:ext cx="3500000" cy="1450000"/>
          </a:xfrm>
          <a:prstGeom prst="roundRect">
            <a:avLst/>
          </a:prstGeom>
          <a:solidFill>
            <a:srgbClr val="FFF0E1"/>
          </a:solidFill>
          <a:ln>
            <a:noFill/>
          </a:ln>
        </p:spPr>
        <p:txBody>
          <a:bodyPr wrap="square" anchor="mid" lIns="230000" rIns="230000" tIns="115000" bIns="115000"/>
          <a:lstStyle/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真实网络运行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真实策略执行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真实数据采集</a:t>
            </a:r>
            <a:endParaRPr lang="zh-CN" sz="1800"/>
          </a:p>
          <a:p>
            <a:pPr algn="l"/>
            <a:r>
              <a:rPr lang="zh-CN" sz="1800" b="0" dirty="0">
                <a:solidFill>
                  <a:srgbClr val="183B56"/>
                </a:solidFill>
                <a:latin typeface="Microsoft YaHei"/>
                <a:ea typeface="Microsoft YaHei"/>
              </a:rPr>
              <a:t>可视化反馈闭环</a:t>
            </a:r>
            <a:endParaRPr lang="zh-CN" sz="1800"/>
          </a:p>
        </p:txBody>
      </p:sp>
      <p:sp>
        <p:nvSpPr>
          <p:cNvPr id="46" name="Text 46"/>
          <p:cNvSpPr txBox="1"/>
          <p:nvPr/>
        </p:nvSpPr>
        <p:spPr>
          <a:xfrm>
            <a:off x="520000" y="5430000"/>
            <a:ext cx="11150000" cy="61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</a:rPr>
              <a:t>目标：把课本中的 VLAN、路由、ACL、DMZ，落成一套可运行、可验证、可观察的系统。</a:t>
            </a:r>
            <a:endParaRPr lang="zh-CN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80000" y="2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100" b="1" dirty="0">
                <a:solidFill>
                  <a:srgbClr val="2A9D8F"/>
                </a:solidFill>
                <a:latin typeface="Microsoft YaHei"/>
                <a:ea typeface="Microsoft YaHei"/>
              </a:rPr>
              <a:t>02 / 网络架构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480000" y="530000"/>
            <a:ext cx="104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700" b="1" dirty="0">
                <a:solidFill>
                  <a:srgbClr val="102A43"/>
                </a:solidFill>
                <a:latin typeface="Microsoft YaHei"/>
                <a:ea typeface="Microsoft YaHei"/>
              </a:rPr>
              <a:t>整体框架：分层组织，边界统一收口</a:t>
            </a:r>
            <a:endParaRPr lang="zh-CN" sz="2700"/>
          </a:p>
        </p:txBody>
      </p:sp>
      <p:cxnSp>
        <p:nvCxnSpPr>
          <p:cNvPr id="4" name="Line 4"/>
          <p:cNvCxnSpPr/>
          <p:nvPr/>
        </p:nvCxnSpPr>
        <p:spPr>
          <a:xfrm>
            <a:off x="480000" y="1160000"/>
            <a:ext cx="11200000" cy="0"/>
          </a:xfrm>
          <a:prstGeom prst="line">
            <a:avLst/>
          </a:prstGeom>
          <a:ln w="14000">
            <a:solidFill>
              <a:srgbClr val="C7D8E0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11100000" y="63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r"/>
            <a:r>
              <a:rPr lang="zh-CN" sz="1000" b="1" dirty="0">
                <a:solidFill>
                  <a:srgbClr val="627D98"/>
                </a:solidFill>
                <a:latin typeface="Microsoft YaHei"/>
                <a:ea typeface="Microsoft YaHei"/>
              </a:rPr>
              <a:t>03</a:t>
            </a:r>
            <a:endParaRPr lang="zh-CN" sz="1000"/>
          </a:p>
        </p:txBody>
      </p:sp>
      <p:sp>
        <p:nvSpPr>
          <p:cNvPr id="10" name="Text 10"/>
          <p:cNvSpPr txBox="1"/>
          <p:nvPr/>
        </p:nvSpPr>
        <p:spPr>
          <a:xfrm>
            <a:off x="500000" y="1450000"/>
            <a:ext cx="15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2A9D8F"/>
                </a:solidFill>
                <a:latin typeface="Microsoft YaHei"/>
                <a:ea typeface="Microsoft YaHei"/>
              </a:rPr>
              <a:t>校园内网</a:t>
            </a:r>
            <a:endParaRPr lang="zh-CN" sz="1500"/>
          </a:p>
        </p:txBody>
      </p:sp>
      <p:sp>
        <p:nvSpPr>
          <p:cNvPr id="11" name="Text 11"/>
          <p:cNvSpPr txBox="1"/>
          <p:nvPr/>
        </p:nvSpPr>
        <p:spPr>
          <a:xfrm>
            <a:off x="500000" y="1870000"/>
            <a:ext cx="7300000" cy="350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2A9D8F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12" name="Text 12"/>
          <p:cNvSpPr txBox="1"/>
          <p:nvPr/>
        </p:nvSpPr>
        <p:spPr>
          <a:xfrm>
            <a:off x="8200000" y="1450000"/>
            <a:ext cx="14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F4A261"/>
                </a:solidFill>
                <a:latin typeface="Microsoft YaHei"/>
                <a:ea typeface="Microsoft YaHei"/>
              </a:rPr>
              <a:t>DMZ</a:t>
            </a:r>
            <a:endParaRPr lang="zh-CN" sz="1500"/>
          </a:p>
        </p:txBody>
      </p:sp>
      <p:sp>
        <p:nvSpPr>
          <p:cNvPr id="13" name="Text 13"/>
          <p:cNvSpPr txBox="1"/>
          <p:nvPr/>
        </p:nvSpPr>
        <p:spPr>
          <a:xfrm>
            <a:off x="8100000" y="1870000"/>
            <a:ext cx="1650000" cy="3500000"/>
          </a:xfrm>
          <a:prstGeom prst="roundRect">
            <a:avLst/>
          </a:prstGeom>
          <a:solidFill>
            <a:srgbClr val="FFF0E1"/>
          </a:solidFill>
          <a:ln w="12700">
            <a:solidFill>
              <a:srgbClr val="F4A26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14" name="Text 14"/>
          <p:cNvSpPr txBox="1"/>
          <p:nvPr/>
        </p:nvSpPr>
        <p:spPr>
          <a:xfrm>
            <a:off x="10200000" y="1450000"/>
            <a:ext cx="14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E76F51"/>
                </a:solidFill>
                <a:latin typeface="Microsoft YaHei"/>
                <a:ea typeface="Microsoft YaHei"/>
              </a:rPr>
              <a:t>模拟公网</a:t>
            </a:r>
            <a:endParaRPr lang="zh-CN" sz="1500"/>
          </a:p>
        </p:txBody>
      </p:sp>
      <p:sp>
        <p:nvSpPr>
          <p:cNvPr id="15" name="Text 15"/>
          <p:cNvSpPr txBox="1"/>
          <p:nvPr/>
        </p:nvSpPr>
        <p:spPr>
          <a:xfrm>
            <a:off x="10100000" y="1870000"/>
            <a:ext cx="1650000" cy="3500000"/>
          </a:xfrm>
          <a:prstGeom prst="roundRect">
            <a:avLst/>
          </a:prstGeom>
          <a:solidFill>
            <a:srgbClr val="FCE9E5"/>
          </a:solidFill>
          <a:ln w="12700">
            <a:solidFill>
              <a:srgbClr val="E76F5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0" name="Circle 20"/>
          <p:cNvSpPr/>
          <p:nvPr/>
        </p:nvSpPr>
        <p:spPr>
          <a:xfrm>
            <a:off x="3700000" y="2100000"/>
            <a:ext cx="850000" cy="85000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</a:rPr>
              <a:t>cs1</a:t>
            </a:r>
            <a:endParaRPr lang="zh-CN" sz="1800"/>
          </a:p>
        </p:txBody>
      </p:sp>
      <p:sp>
        <p:nvSpPr>
          <p:cNvPr id="21" name="Text 21"/>
          <p:cNvSpPr txBox="1"/>
          <p:nvPr/>
        </p:nvSpPr>
        <p:spPr>
          <a:xfrm>
            <a:off x="2650000" y="3020000"/>
            <a:ext cx="3000000" cy="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600" b="1" dirty="0">
                <a:solidFill>
                  <a:srgbClr val="102A43"/>
                </a:solidFill>
                <a:latin typeface="Microsoft YaHei"/>
                <a:ea typeface="Microsoft YaHei"/>
              </a:rPr>
              <a:t>核心层 · 高速交换与全网汇聚</a:t>
            </a:r>
            <a:endParaRPr lang="zh-CN" sz="1600"/>
          </a:p>
        </p:txBody>
      </p:sp>
      <p:sp>
        <p:nvSpPr>
          <p:cNvPr id="22" name="Text 22"/>
          <p:cNvSpPr txBox="1"/>
          <p:nvPr/>
        </p:nvSpPr>
        <p:spPr>
          <a:xfrm>
            <a:off x="850000" y="3890000"/>
            <a:ext cx="1850000" cy="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500" b="1" dirty="0">
                <a:solidFill>
                  <a:srgbClr val="183B56"/>
                </a:solidFill>
                <a:latin typeface="Microsoft YaHei"/>
                <a:ea typeface="Microsoft YaHei"/>
              </a:rPr>
              <a:t>as1</a:t>
            </a:r>
            <a:endParaRPr lang="zh-CN" sz="1500"/>
          </a:p>
          <a:p>
            <a:pPr algn="ctr"/>
            <a:r>
              <a:rPr lang="zh-CN" sz="1500" b="1" dirty="0">
                <a:solidFill>
                  <a:srgbClr val="183B56"/>
                </a:solidFill>
                <a:latin typeface="Microsoft YaHei"/>
                <a:ea typeface="Microsoft YaHei"/>
              </a:rPr>
              <a:t>办公 / 教学</a:t>
            </a:r>
            <a:endParaRPr lang="zh-CN" sz="1500"/>
          </a:p>
        </p:txBody>
      </p:sp>
      <p:sp>
        <p:nvSpPr>
          <p:cNvPr id="23" name="Text 23"/>
          <p:cNvSpPr txBox="1"/>
          <p:nvPr/>
        </p:nvSpPr>
        <p:spPr>
          <a:xfrm>
            <a:off x="2850000" y="3890000"/>
            <a:ext cx="1850000" cy="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500" b="1" dirty="0">
                <a:solidFill>
                  <a:srgbClr val="183B56"/>
                </a:solidFill>
                <a:latin typeface="Microsoft YaHei"/>
                <a:ea typeface="Microsoft YaHei"/>
              </a:rPr>
              <a:t>as2</a:t>
            </a:r>
            <a:endParaRPr lang="zh-CN" sz="1500"/>
          </a:p>
          <a:p>
            <a:pPr algn="ctr"/>
            <a:r>
              <a:rPr lang="zh-CN" sz="1500" b="1" dirty="0">
                <a:solidFill>
                  <a:srgbClr val="183B56"/>
                </a:solidFill>
                <a:latin typeface="Microsoft YaHei"/>
                <a:ea typeface="Microsoft YaHei"/>
              </a:rPr>
              <a:t>生活 / 无线</a:t>
            </a:r>
            <a:endParaRPr lang="zh-CN" sz="1500"/>
          </a:p>
        </p:txBody>
      </p:sp>
      <p:sp>
        <p:nvSpPr>
          <p:cNvPr id="24" name="Text 24"/>
          <p:cNvSpPr txBox="1"/>
          <p:nvPr/>
        </p:nvSpPr>
        <p:spPr>
          <a:xfrm>
            <a:off x="4850000" y="3890000"/>
            <a:ext cx="1850000" cy="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500" b="1" dirty="0">
                <a:solidFill>
                  <a:srgbClr val="183B56"/>
                </a:solidFill>
                <a:latin typeface="Microsoft YaHei"/>
                <a:ea typeface="Microsoft YaHei"/>
              </a:rPr>
              <a:t>as3</a:t>
            </a:r>
            <a:endParaRPr lang="zh-CN" sz="1500"/>
          </a:p>
          <a:p>
            <a:pPr algn="ctr"/>
            <a:r>
              <a:rPr lang="zh-CN" sz="1500" b="1" dirty="0">
                <a:solidFill>
                  <a:srgbClr val="183B56"/>
                </a:solidFill>
                <a:latin typeface="Microsoft YaHei"/>
                <a:ea typeface="Microsoft YaHei"/>
              </a:rPr>
              <a:t>数据中心</a:t>
            </a:r>
            <a:endParaRPr lang="zh-CN" sz="1500"/>
          </a:p>
        </p:txBody>
      </p:sp>
      <p:sp>
        <p:nvSpPr>
          <p:cNvPr id="25" name="Text 25"/>
          <p:cNvSpPr txBox="1"/>
          <p:nvPr/>
        </p:nvSpPr>
        <p:spPr>
          <a:xfrm>
            <a:off x="6850000" y="3890000"/>
            <a:ext cx="850000" cy="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300" b="1" dirty="0">
                <a:solidFill>
                  <a:srgbClr val="183B56"/>
                </a:solidFill>
                <a:latin typeface="Microsoft YaHei"/>
                <a:ea typeface="Microsoft YaHei"/>
              </a:rPr>
              <a:t>as4</a:t>
            </a:r>
            <a:endParaRPr lang="zh-CN" sz="1300"/>
          </a:p>
          <a:p>
            <a:pPr algn="ctr"/>
            <a:r>
              <a:rPr lang="zh-CN" sz="1300" b="1" dirty="0">
                <a:solidFill>
                  <a:srgbClr val="183B56"/>
                </a:solidFill>
                <a:latin typeface="Microsoft YaHei"/>
                <a:ea typeface="Microsoft YaHei"/>
              </a:rPr>
              <a:t>分校区</a:t>
            </a:r>
            <a:endParaRPr lang="zh-CN" sz="1300"/>
          </a:p>
        </p:txBody>
      </p:sp>
      <p:sp>
        <p:nvSpPr>
          <p:cNvPr id="26" name="Text 26"/>
          <p:cNvSpPr txBox="1"/>
          <p:nvPr/>
        </p:nvSpPr>
        <p:spPr>
          <a:xfrm>
            <a:off x="850000" y="4740000"/>
            <a:ext cx="6650000" cy="48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500" b="1" dirty="0">
                <a:solidFill>
                  <a:srgbClr val="627D98"/>
                </a:solidFill>
                <a:latin typeface="Microsoft YaHei"/>
                <a:ea typeface="Microsoft YaHei"/>
              </a:rPr>
              <a:t>接入层：sw1–sw18 将终端按业务区域接入对应 VLAN</a:t>
            </a:r>
            <a:endParaRPr lang="zh-CN" sz="1500"/>
          </a:p>
        </p:txBody>
      </p:sp>
      <p:sp>
        <p:nvSpPr>
          <p:cNvPr id="30" name="Circle 30"/>
          <p:cNvSpPr/>
          <p:nvPr/>
        </p:nvSpPr>
        <p:spPr>
          <a:xfrm>
            <a:off x="7550000" y="2570000"/>
            <a:ext cx="850000" cy="850000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</a:rPr>
              <a:t>fw1</a:t>
            </a:r>
            <a:endParaRPr lang="zh-CN" sz="1800"/>
          </a:p>
        </p:txBody>
      </p:sp>
      <p:sp>
        <p:nvSpPr>
          <p:cNvPr id="31" name="Text 31"/>
          <p:cNvSpPr txBox="1"/>
          <p:nvPr/>
        </p:nvSpPr>
        <p:spPr>
          <a:xfrm>
            <a:off x="8320000" y="2670000"/>
            <a:ext cx="12000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400" b="1" dirty="0">
                <a:solidFill>
                  <a:srgbClr val="183B56"/>
                </a:solidFill>
                <a:latin typeface="Microsoft YaHei"/>
                <a:ea typeface="Microsoft YaHei"/>
              </a:rPr>
              <a:t>sw15</a:t>
            </a:r>
            <a:endParaRPr lang="zh-CN" sz="1400"/>
          </a:p>
          <a:p>
            <a:pPr algn="ctr"/>
            <a:r>
              <a:rPr lang="zh-CN" sz="1400" b="1" dirty="0">
                <a:solidFill>
                  <a:srgbClr val="183B56"/>
                </a:solidFill>
                <a:latin typeface="Microsoft YaHei"/>
                <a:ea typeface="Microsoft YaHei"/>
              </a:rPr>
              <a:t>公开服务</a:t>
            </a:r>
            <a:endParaRPr lang="zh-CN" sz="1400"/>
          </a:p>
        </p:txBody>
      </p:sp>
      <p:sp>
        <p:nvSpPr>
          <p:cNvPr id="32" name="Text 32"/>
          <p:cNvSpPr txBox="1"/>
          <p:nvPr/>
        </p:nvSpPr>
        <p:spPr>
          <a:xfrm>
            <a:off x="10300000" y="2670000"/>
            <a:ext cx="12500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400" b="1" dirty="0">
                <a:solidFill>
                  <a:srgbClr val="183B56"/>
                </a:solidFill>
                <a:latin typeface="Microsoft YaHei"/>
                <a:ea typeface="Microsoft YaHei"/>
              </a:rPr>
              <a:t>sw18</a:t>
            </a:r>
            <a:endParaRPr lang="zh-CN" sz="1400"/>
          </a:p>
          <a:p>
            <a:pPr algn="ctr"/>
            <a:r>
              <a:rPr lang="zh-CN" sz="1400" b="1" dirty="0">
                <a:solidFill>
                  <a:srgbClr val="183B56"/>
                </a:solidFill>
                <a:latin typeface="Microsoft YaHei"/>
                <a:ea typeface="Microsoft YaHei"/>
              </a:rPr>
              <a:t>外部节点</a:t>
            </a:r>
            <a:endParaRPr lang="zh-CN" sz="1400"/>
          </a:p>
        </p:txBody>
      </p:sp>
      <p:sp>
        <p:nvSpPr>
          <p:cNvPr id="33" name="Text 33"/>
          <p:cNvSpPr txBox="1"/>
          <p:nvPr/>
        </p:nvSpPr>
        <p:spPr>
          <a:xfrm>
            <a:off x="8050000" y="4360000"/>
            <a:ext cx="3600000" cy="72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所有跨区流量必须经过 fw1</a:t>
            </a:r>
            <a:endParaRPr lang="zh-CN" sz="1600"/>
          </a:p>
          <a:p>
            <a:pPr algn="ctr"/>
            <a:r>
              <a:rPr lang="zh-CN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拓扑路径与安全策略保持一致</a:t>
            </a:r>
            <a:endParaRPr lang="zh-CN" sz="1600"/>
          </a:p>
        </p:txBody>
      </p:sp>
      <p:cxnSp>
        <p:nvCxnSpPr>
          <p:cNvPr id="40" name="Line 40"/>
          <p:cNvCxnSpPr/>
          <p:nvPr/>
        </p:nvCxnSpPr>
        <p:spPr>
          <a:xfrm>
            <a:off x="4500000" y="2520000"/>
            <a:ext cx="3050000" cy="400000"/>
          </a:xfrm>
          <a:prstGeom prst="line">
            <a:avLst/>
          </a:prstGeom>
          <a:ln w="30000">
            <a:solidFill>
              <a:srgbClr val="176B87"/>
            </a:solidFill>
            <a:tailEnd type="none"/>
            <a:headEnd type="triangle"/>
          </a:ln>
        </p:spPr>
      </p:cxnSp>
      <p:cxnSp>
        <p:nvCxnSpPr>
          <p:cNvPr id="41" name="Line 41"/>
          <p:cNvCxnSpPr/>
          <p:nvPr/>
        </p:nvCxnSpPr>
        <p:spPr>
          <a:xfrm>
            <a:off x="8300000" y="2950000"/>
            <a:ext cx="200000" cy="0"/>
          </a:xfrm>
          <a:prstGeom prst="line">
            <a:avLst/>
          </a:prstGeom>
          <a:ln w="30000">
            <a:solidFill>
              <a:srgbClr val="F4A261"/>
            </a:solidFill>
            <a:tailEnd type="none"/>
            <a:headEnd type="triangle"/>
          </a:ln>
        </p:spPr>
      </p:cxnSp>
      <p:cxnSp>
        <p:nvCxnSpPr>
          <p:cNvPr id="42" name="Line 42"/>
          <p:cNvCxnSpPr/>
          <p:nvPr/>
        </p:nvCxnSpPr>
        <p:spPr>
          <a:xfrm>
            <a:off x="9530000" y="2950000"/>
            <a:ext cx="750000" cy="0"/>
          </a:xfrm>
          <a:prstGeom prst="line">
            <a:avLst/>
          </a:prstGeom>
          <a:ln w="30000">
            <a:solidFill>
              <a:srgbClr val="E76F51"/>
            </a:solidFill>
            <a:tailEnd type="none"/>
            <a:headEnd type="triangle"/>
          </a:ln>
        </p:spPr>
      </p:cxnSp>
      <p:cxnSp>
        <p:nvCxnSpPr>
          <p:cNvPr id="43" name="Line 43"/>
          <p:cNvCxnSpPr/>
          <p:nvPr/>
        </p:nvCxnSpPr>
        <p:spPr>
          <a:xfrm>
            <a:off x="4120000" y="2950000"/>
            <a:ext cx="-2300000" cy="920000"/>
          </a:xfrm>
          <a:prstGeom prst="line">
            <a:avLst/>
          </a:prstGeom>
          <a:ln w="19000">
            <a:solidFill>
              <a:srgbClr val="C7D8E0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4120000" y="2950000"/>
            <a:ext cx="-350000" cy="920000"/>
          </a:xfrm>
          <a:prstGeom prst="line">
            <a:avLst/>
          </a:prstGeom>
          <a:ln w="19000">
            <a:solidFill>
              <a:srgbClr val="C7D8E0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4120000" y="2950000"/>
            <a:ext cx="1650000" cy="920000"/>
          </a:xfrm>
          <a:prstGeom prst="line">
            <a:avLst/>
          </a:prstGeom>
          <a:ln w="19000">
            <a:solidFill>
              <a:srgbClr val="C7D8E0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80000" y="2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100" b="1" dirty="0">
                <a:solidFill>
                  <a:srgbClr val="2A9D8F"/>
                </a:solidFill>
                <a:latin typeface="Microsoft YaHei"/>
                <a:ea typeface="Microsoft YaHei"/>
              </a:rPr>
              <a:t>03 / 地址规划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480000" y="530000"/>
            <a:ext cx="104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700" b="1" dirty="0">
                <a:solidFill>
                  <a:srgbClr val="102A43"/>
                </a:solidFill>
                <a:latin typeface="Microsoft YaHei"/>
                <a:ea typeface="Microsoft YaHei"/>
              </a:rPr>
              <a:t>IP 与 VLAN：按业务域、安全域分配</a:t>
            </a:r>
            <a:endParaRPr lang="zh-CN" sz="2700"/>
          </a:p>
        </p:txBody>
      </p:sp>
      <p:cxnSp>
        <p:nvCxnSpPr>
          <p:cNvPr id="4" name="Line 4"/>
          <p:cNvCxnSpPr/>
          <p:nvPr/>
        </p:nvCxnSpPr>
        <p:spPr>
          <a:xfrm>
            <a:off x="480000" y="1160000"/>
            <a:ext cx="11200000" cy="0"/>
          </a:xfrm>
          <a:prstGeom prst="line">
            <a:avLst/>
          </a:prstGeom>
          <a:ln w="14000">
            <a:solidFill>
              <a:srgbClr val="C7D8E0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11100000" y="63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r"/>
            <a:r>
              <a:rPr lang="zh-CN" sz="1000" b="1" dirty="0">
                <a:solidFill>
                  <a:srgbClr val="627D98"/>
                </a:solidFill>
                <a:latin typeface="Microsoft YaHei"/>
                <a:ea typeface="Microsoft YaHei"/>
              </a:rPr>
              <a:t>04</a:t>
            </a:r>
            <a:endParaRPr lang="zh-CN" sz="1000"/>
          </a:p>
        </p:txBody>
      </p:sp>
      <p:sp>
        <p:nvSpPr>
          <p:cNvPr id="10" name="Text 10"/>
          <p:cNvSpPr txBox="1"/>
          <p:nvPr/>
        </p:nvSpPr>
        <p:spPr>
          <a:xfrm>
            <a:off x="520000" y="1460000"/>
            <a:ext cx="4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102A43"/>
                </a:solidFill>
                <a:latin typeface="Microsoft YaHei"/>
                <a:ea typeface="Microsoft YaHei"/>
              </a:rPr>
              <a:t>统一规则</a:t>
            </a:r>
            <a:endParaRPr lang="zh-CN" sz="1500"/>
          </a:p>
        </p:txBody>
      </p:sp>
      <p:sp>
        <p:nvSpPr>
          <p:cNvPr id="11" name="Text 11"/>
          <p:cNvSpPr txBox="1"/>
          <p:nvPr/>
        </p:nvSpPr>
        <p:spPr>
          <a:xfrm>
            <a:off x="520000" y="2020000"/>
            <a:ext cx="4200000" cy="104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240000" rIns="240000" tIns="120000" bIns="120000"/>
          <a:lstStyle/>
          <a:p>
            <a:pPr algn="l"/>
            <a:r>
              <a:rPr lang="zh-CN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每个业务区域独立 /24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VLAN ID 与第三段尽量对应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网关统一使用 .1</a:t>
            </a:r>
            <a:endParaRPr lang="zh-CN" sz="2000"/>
          </a:p>
        </p:txBody>
      </p:sp>
      <p:sp>
        <p:nvSpPr>
          <p:cNvPr id="12" name="Text 12"/>
          <p:cNvSpPr txBox="1"/>
          <p:nvPr/>
        </p:nvSpPr>
        <p:spPr>
          <a:xfrm>
            <a:off x="520000" y="3330000"/>
            <a:ext cx="4200000" cy="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B87"/>
            </a:solidFill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500" b="1" dirty="0">
                <a:solidFill>
                  <a:srgbClr val="176B87"/>
                </a:solidFill>
                <a:latin typeface="Microsoft YaHei"/>
                <a:ea typeface="Microsoft YaHei"/>
              </a:rPr>
              <a:t>示例：VLAN 20 → 10.0.20.0/24 → 10.0.20.1</a:t>
            </a:r>
            <a:endParaRPr lang="zh-CN" sz="1500"/>
          </a:p>
        </p:txBody>
      </p:sp>
      <p:sp>
        <p:nvSpPr>
          <p:cNvPr id="13" name="Text 13"/>
          <p:cNvSpPr txBox="1"/>
          <p:nvPr/>
        </p:nvSpPr>
        <p:spPr>
          <a:xfrm>
            <a:off x="520000" y="4260000"/>
            <a:ext cx="4200000" cy="1170000"/>
          </a:xfrm>
          <a:prstGeom prst="roundRect">
            <a:avLst/>
          </a:prstGeom>
          <a:solidFill>
            <a:srgbClr val="EAF4F7"/>
          </a:solidFill>
          <a:ln>
            <a:noFill/>
          </a:ln>
        </p:spPr>
        <p:txBody>
          <a:bodyPr wrap="square" anchor="mid" lIns="240000" rIns="240000" tIns="120000" bIns="120000"/>
          <a:lstStyle/>
          <a:p>
            <a:pPr algn="l"/>
            <a:r>
              <a:rPr lang="zh-CN" sz="1700" b="0" dirty="0">
                <a:solidFill>
                  <a:srgbClr val="183B56"/>
                </a:solidFill>
                <a:latin typeface="Microsoft YaHei"/>
                <a:ea typeface="Microsoft YaHei"/>
              </a:rPr>
              <a:t>为什么这样分？</a:t>
            </a:r>
            <a:endParaRPr lang="zh-CN" sz="1700"/>
          </a:p>
          <a:p>
            <a:pPr algn="l"/>
            <a:r>
              <a:rPr lang="zh-CN" sz="1700" b="0" dirty="0">
                <a:solidFill>
                  <a:srgbClr val="183B56"/>
                </a:solidFill>
                <a:latin typeface="Microsoft YaHei"/>
                <a:ea typeface="Microsoft YaHei"/>
              </a:rPr>
              <a:t>地址有语义，ACL 易编写，故障易定位，未来扩展不打架。</a:t>
            </a:r>
            <a:endParaRPr lang="zh-CN" sz="1700"/>
          </a:p>
        </p:txBody>
      </p:sp>
      <p:sp>
        <p:nvSpPr>
          <p:cNvPr id="20" name="Text 20"/>
          <p:cNvSpPr txBox="1"/>
          <p:nvPr/>
        </p:nvSpPr>
        <p:spPr>
          <a:xfrm>
            <a:off x="5050000" y="1500000"/>
            <a:ext cx="3000000" cy="18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2A9D8F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0" name="Text 30"/>
          <p:cNvSpPr txBox="1"/>
          <p:nvPr/>
        </p:nvSpPr>
        <p:spPr>
          <a:xfrm>
            <a:off x="5230000" y="1650000"/>
            <a:ext cx="26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2A9D8F"/>
                </a:solidFill>
                <a:latin typeface="Microsoft YaHei"/>
                <a:ea typeface="Microsoft YaHei"/>
              </a:rPr>
              <a:t>校园内网</a:t>
            </a:r>
            <a:endParaRPr lang="zh-CN" sz="1500"/>
          </a:p>
        </p:txBody>
      </p:sp>
      <p:sp>
        <p:nvSpPr>
          <p:cNvPr id="40" name="Text 40"/>
          <p:cNvSpPr txBox="1"/>
          <p:nvPr/>
        </p:nvSpPr>
        <p:spPr>
          <a:xfrm>
            <a:off x="5230000" y="2020000"/>
            <a:ext cx="265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200" b="1" dirty="0">
                <a:solidFill>
                  <a:srgbClr val="102A43"/>
                </a:solidFill>
                <a:latin typeface="Microsoft YaHei"/>
                <a:ea typeface="Microsoft YaHei"/>
              </a:rPr>
              <a:t>10.0.0.0/8</a:t>
            </a:r>
            <a:endParaRPr lang="zh-CN" sz="2200"/>
          </a:p>
        </p:txBody>
      </p:sp>
      <p:sp>
        <p:nvSpPr>
          <p:cNvPr id="50" name="Text 50"/>
          <p:cNvSpPr txBox="1"/>
          <p:nvPr/>
        </p:nvSpPr>
        <p:spPr>
          <a:xfrm>
            <a:off x="5230000" y="2520000"/>
            <a:ext cx="265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宿舍 10/11/12 · 办公 20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人事 50 · 财务 60 · 服务器 100</a:t>
            </a:r>
            <a:endParaRPr lang="zh-CN" sz="1400"/>
          </a:p>
        </p:txBody>
      </p:sp>
      <p:sp>
        <p:nvSpPr>
          <p:cNvPr id="21" name="Text 21"/>
          <p:cNvSpPr txBox="1"/>
          <p:nvPr/>
        </p:nvSpPr>
        <p:spPr>
          <a:xfrm>
            <a:off x="8350000" y="1500000"/>
            <a:ext cx="3000000" cy="1850000"/>
          </a:xfrm>
          <a:prstGeom prst="roundRect">
            <a:avLst/>
          </a:prstGeom>
          <a:solidFill>
            <a:srgbClr val="FFF0E1"/>
          </a:solidFill>
          <a:ln w="12700">
            <a:solidFill>
              <a:srgbClr val="F4A26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1" name="Text 31"/>
          <p:cNvSpPr txBox="1"/>
          <p:nvPr/>
        </p:nvSpPr>
        <p:spPr>
          <a:xfrm>
            <a:off x="8530000" y="1650000"/>
            <a:ext cx="26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F4A261"/>
                </a:solidFill>
                <a:latin typeface="Microsoft YaHei"/>
                <a:ea typeface="Microsoft YaHei"/>
              </a:rPr>
              <a:t>DMZ 隔离区</a:t>
            </a:r>
            <a:endParaRPr lang="zh-CN" sz="1500"/>
          </a:p>
        </p:txBody>
      </p:sp>
      <p:sp>
        <p:nvSpPr>
          <p:cNvPr id="41" name="Text 41"/>
          <p:cNvSpPr txBox="1"/>
          <p:nvPr/>
        </p:nvSpPr>
        <p:spPr>
          <a:xfrm>
            <a:off x="8530000" y="2020000"/>
            <a:ext cx="265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200" b="1" dirty="0">
                <a:solidFill>
                  <a:srgbClr val="102A43"/>
                </a:solidFill>
                <a:latin typeface="Microsoft YaHei"/>
                <a:ea typeface="Microsoft YaHei"/>
              </a:rPr>
              <a:t>10.0.110.0/24</a:t>
            </a:r>
            <a:endParaRPr lang="zh-CN" sz="2200"/>
          </a:p>
        </p:txBody>
      </p:sp>
      <p:sp>
        <p:nvSpPr>
          <p:cNvPr id="51" name="Text 51"/>
          <p:cNvSpPr txBox="1"/>
          <p:nvPr/>
        </p:nvSpPr>
        <p:spPr>
          <a:xfrm>
            <a:off x="8530000" y="2520000"/>
            <a:ext cx="265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vpn_srv  .10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dmz_web  .20</a:t>
            </a:r>
            <a:endParaRPr lang="zh-CN" sz="1400"/>
          </a:p>
        </p:txBody>
      </p:sp>
      <p:sp>
        <p:nvSpPr>
          <p:cNvPr id="22" name="Text 22"/>
          <p:cNvSpPr txBox="1"/>
          <p:nvPr/>
        </p:nvSpPr>
        <p:spPr>
          <a:xfrm>
            <a:off x="5050000" y="3650000"/>
            <a:ext cx="3000000" cy="1850000"/>
          </a:xfrm>
          <a:prstGeom prst="roundRect">
            <a:avLst/>
          </a:prstGeom>
          <a:solidFill>
            <a:srgbClr val="FCE9E5"/>
          </a:solidFill>
          <a:ln w="12700">
            <a:solidFill>
              <a:srgbClr val="E76F5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2" name="Text 32"/>
          <p:cNvSpPr txBox="1"/>
          <p:nvPr/>
        </p:nvSpPr>
        <p:spPr>
          <a:xfrm>
            <a:off x="5230000" y="3800000"/>
            <a:ext cx="26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E76F51"/>
                </a:solidFill>
                <a:latin typeface="Microsoft YaHei"/>
                <a:ea typeface="Microsoft YaHei"/>
              </a:rPr>
              <a:t>模拟公网</a:t>
            </a:r>
            <a:endParaRPr lang="zh-CN" sz="1500"/>
          </a:p>
        </p:txBody>
      </p:sp>
      <p:sp>
        <p:nvSpPr>
          <p:cNvPr id="42" name="Text 42"/>
          <p:cNvSpPr txBox="1"/>
          <p:nvPr/>
        </p:nvSpPr>
        <p:spPr>
          <a:xfrm>
            <a:off x="5230000" y="4170000"/>
            <a:ext cx="265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200" b="1" dirty="0">
                <a:solidFill>
                  <a:srgbClr val="102A43"/>
                </a:solidFill>
                <a:latin typeface="Microsoft YaHei"/>
                <a:ea typeface="Microsoft YaHei"/>
              </a:rPr>
              <a:t>203.0.113.0/24</a:t>
            </a:r>
            <a:endParaRPr lang="zh-CN" sz="2200"/>
          </a:p>
        </p:txBody>
      </p:sp>
      <p:sp>
        <p:nvSpPr>
          <p:cNvPr id="52" name="Text 52"/>
          <p:cNvSpPr txBox="1"/>
          <p:nvPr/>
        </p:nvSpPr>
        <p:spPr>
          <a:xfrm>
            <a:off x="5230000" y="4670000"/>
            <a:ext cx="265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网关  .1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ext_web  .10</a:t>
            </a:r>
            <a:endParaRPr lang="zh-CN" sz="1400"/>
          </a:p>
        </p:txBody>
      </p:sp>
      <p:sp>
        <p:nvSpPr>
          <p:cNvPr id="23" name="Text 23"/>
          <p:cNvSpPr txBox="1"/>
          <p:nvPr/>
        </p:nvSpPr>
        <p:spPr>
          <a:xfrm>
            <a:off x="8350000" y="3650000"/>
            <a:ext cx="3000000" cy="1850000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176B87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3" name="Text 33"/>
          <p:cNvSpPr txBox="1"/>
          <p:nvPr/>
        </p:nvSpPr>
        <p:spPr>
          <a:xfrm>
            <a:off x="8530000" y="3800000"/>
            <a:ext cx="26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1" dirty="0">
                <a:solidFill>
                  <a:srgbClr val="176B87"/>
                </a:solidFill>
                <a:latin typeface="Microsoft YaHei"/>
                <a:ea typeface="Microsoft YaHei"/>
              </a:rPr>
              <a:t>VPN 隧道</a:t>
            </a:r>
            <a:endParaRPr lang="zh-CN" sz="1500"/>
          </a:p>
        </p:txBody>
      </p:sp>
      <p:sp>
        <p:nvSpPr>
          <p:cNvPr id="43" name="Text 43"/>
          <p:cNvSpPr txBox="1"/>
          <p:nvPr/>
        </p:nvSpPr>
        <p:spPr>
          <a:xfrm>
            <a:off x="8530000" y="4170000"/>
            <a:ext cx="2650000" cy="39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200" b="1" dirty="0">
                <a:solidFill>
                  <a:srgbClr val="102A43"/>
                </a:solidFill>
                <a:latin typeface="Microsoft YaHei"/>
                <a:ea typeface="Microsoft YaHei"/>
              </a:rPr>
              <a:t>172.16.0.0/30</a:t>
            </a:r>
            <a:endParaRPr lang="zh-CN" sz="2200"/>
          </a:p>
        </p:txBody>
      </p:sp>
      <p:sp>
        <p:nvSpPr>
          <p:cNvPr id="53" name="Text 53"/>
          <p:cNvSpPr txBox="1"/>
          <p:nvPr/>
        </p:nvSpPr>
        <p:spPr>
          <a:xfrm>
            <a:off x="8530000" y="4670000"/>
            <a:ext cx="265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服务端  .1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客户端  .2</a:t>
            </a:r>
            <a:endParaRPr lang="zh-CN" sz="1400"/>
          </a:p>
        </p:txBody>
      </p:sp>
      <p:sp>
        <p:nvSpPr>
          <p:cNvPr id="60" name="Text 60"/>
          <p:cNvSpPr txBox="1"/>
          <p:nvPr/>
        </p:nvSpPr>
        <p:spPr>
          <a:xfrm>
            <a:off x="5050000" y="5860000"/>
            <a:ext cx="6300000" cy="3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600" b="1" dirty="0">
                <a:solidFill>
                  <a:srgbClr val="102A43"/>
                </a:solidFill>
                <a:latin typeface="Microsoft YaHei"/>
                <a:ea typeface="Microsoft YaHei"/>
              </a:rPr>
              <a:t>地址规划直接服务于路由、隔离和安全策略，而不是单纯“编号”。</a:t>
            </a:r>
            <a:endParaRPr lang="zh-CN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80000" y="2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100" b="1" dirty="0">
                <a:solidFill>
                  <a:srgbClr val="2A9D8F"/>
                </a:solidFill>
                <a:latin typeface="Microsoft YaHei"/>
                <a:ea typeface="Microsoft YaHei"/>
              </a:rPr>
              <a:t>04 / 核心机制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480000" y="530000"/>
            <a:ext cx="104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700" b="1" dirty="0">
                <a:solidFill>
                  <a:srgbClr val="102A43"/>
                </a:solidFill>
                <a:latin typeface="Microsoft YaHei"/>
                <a:ea typeface="Microsoft YaHei"/>
              </a:rPr>
              <a:t>转发与安全：各做擅长的事</a:t>
            </a:r>
            <a:endParaRPr lang="zh-CN" sz="2700"/>
          </a:p>
        </p:txBody>
      </p:sp>
      <p:cxnSp>
        <p:nvCxnSpPr>
          <p:cNvPr id="4" name="Line 4"/>
          <p:cNvCxnSpPr/>
          <p:nvPr/>
        </p:nvCxnSpPr>
        <p:spPr>
          <a:xfrm>
            <a:off x="480000" y="1160000"/>
            <a:ext cx="11200000" cy="0"/>
          </a:xfrm>
          <a:prstGeom prst="line">
            <a:avLst/>
          </a:prstGeom>
          <a:ln w="14000">
            <a:solidFill>
              <a:srgbClr val="C7D8E0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11100000" y="63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r"/>
            <a:r>
              <a:rPr lang="zh-CN" sz="1000" b="1" dirty="0">
                <a:solidFill>
                  <a:srgbClr val="627D98"/>
                </a:solidFill>
                <a:latin typeface="Microsoft YaHei"/>
                <a:ea typeface="Microsoft YaHei"/>
              </a:rPr>
              <a:t>05</a:t>
            </a:r>
            <a:endParaRPr lang="zh-CN" sz="1000"/>
          </a:p>
        </p:txBody>
      </p:sp>
      <p:sp>
        <p:nvSpPr>
          <p:cNvPr id="10" name="Text 10"/>
          <p:cNvSpPr txBox="1"/>
          <p:nvPr/>
        </p:nvSpPr>
        <p:spPr>
          <a:xfrm>
            <a:off x="520000" y="1450000"/>
            <a:ext cx="11150000" cy="60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900" b="1" dirty="0">
                <a:solidFill>
                  <a:srgbClr val="FFFFFF"/>
                </a:solidFill>
                <a:latin typeface="Microsoft YaHei"/>
                <a:ea typeface="Microsoft YaHei"/>
              </a:rPr>
              <a:t>终端流量 → OVS 二层交换 → fw1 边界收口 → Linux 内核路由 → 目标 VLAN</a:t>
            </a:r>
            <a:endParaRPr lang="zh-CN" sz="1900"/>
          </a:p>
        </p:txBody>
      </p:sp>
      <p:sp>
        <p:nvSpPr>
          <p:cNvPr id="20" name="Text 20"/>
          <p:cNvSpPr txBox="1"/>
          <p:nvPr/>
        </p:nvSpPr>
        <p:spPr>
          <a:xfrm>
            <a:off x="520000" y="2390000"/>
            <a:ext cx="2500000" cy="1720000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176B87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0" name="Circle 30"/>
          <p:cNvSpPr/>
          <p:nvPr/>
        </p:nvSpPr>
        <p:spPr>
          <a:xfrm>
            <a:off x="700000" y="2560000"/>
            <a:ext cx="470000" cy="47000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lang="zh-CN" sz="1200"/>
          </a:p>
        </p:txBody>
      </p:sp>
      <p:sp>
        <p:nvSpPr>
          <p:cNvPr id="40" name="Text 40"/>
          <p:cNvSpPr txBox="1"/>
          <p:nvPr/>
        </p:nvSpPr>
        <p:spPr>
          <a:xfrm>
            <a:off x="700000" y="3160000"/>
            <a:ext cx="21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900" b="1" dirty="0">
                <a:solidFill>
                  <a:srgbClr val="102A43"/>
                </a:solidFill>
                <a:latin typeface="Microsoft YaHei"/>
                <a:ea typeface="Microsoft YaHei"/>
              </a:rPr>
              <a:t>OVS</a:t>
            </a:r>
            <a:endParaRPr lang="zh-CN" sz="1900"/>
          </a:p>
        </p:txBody>
      </p:sp>
      <p:sp>
        <p:nvSpPr>
          <p:cNvPr id="50" name="Text 50"/>
          <p:cNvSpPr txBox="1"/>
          <p:nvPr/>
        </p:nvSpPr>
        <p:spPr>
          <a:xfrm>
            <a:off x="700000" y="3560000"/>
            <a:ext cx="21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Access / Trunk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完成 VLAN 二层隔离</a:t>
            </a:r>
            <a:endParaRPr lang="zh-CN" sz="1400"/>
          </a:p>
        </p:txBody>
      </p:sp>
      <p:cxnSp>
        <p:nvCxnSpPr>
          <p:cNvPr id="60" name="Line 60"/>
          <p:cNvCxnSpPr/>
          <p:nvPr/>
        </p:nvCxnSpPr>
        <p:spPr>
          <a:xfrm>
            <a:off x="3020000" y="3240000"/>
            <a:ext cx="350000" cy="0"/>
          </a:xfrm>
          <a:prstGeom prst="line">
            <a:avLst/>
          </a:prstGeom>
          <a:ln w="30000">
            <a:solidFill>
              <a:srgbClr val="176B87"/>
            </a:solidFill>
            <a:tailEnd type="none"/>
            <a:headEnd type="triangle"/>
          </a:ln>
        </p:spPr>
      </p:cxnSp>
      <p:sp>
        <p:nvSpPr>
          <p:cNvPr id="21" name="Text 21"/>
          <p:cNvSpPr txBox="1"/>
          <p:nvPr/>
        </p:nvSpPr>
        <p:spPr>
          <a:xfrm>
            <a:off x="3370000" y="2390000"/>
            <a:ext cx="2500000" cy="172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2A9D8F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1" name="Circle 31"/>
          <p:cNvSpPr/>
          <p:nvPr/>
        </p:nvSpPr>
        <p:spPr>
          <a:xfrm>
            <a:off x="3550000" y="2560000"/>
            <a:ext cx="470000" cy="47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 lang="zh-CN" sz="1200"/>
          </a:p>
        </p:txBody>
      </p:sp>
      <p:sp>
        <p:nvSpPr>
          <p:cNvPr id="41" name="Text 41"/>
          <p:cNvSpPr txBox="1"/>
          <p:nvPr/>
        </p:nvSpPr>
        <p:spPr>
          <a:xfrm>
            <a:off x="3550000" y="3160000"/>
            <a:ext cx="21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900" b="1" dirty="0">
                <a:solidFill>
                  <a:srgbClr val="102A43"/>
                </a:solidFill>
                <a:latin typeface="Microsoft YaHei"/>
                <a:ea typeface="Microsoft YaHei"/>
              </a:rPr>
              <a:t>Veth Pair</a:t>
            </a:r>
            <a:endParaRPr lang="zh-CN" sz="1900"/>
          </a:p>
        </p:txBody>
      </p:sp>
      <p:sp>
        <p:nvSpPr>
          <p:cNvPr id="51" name="Text 51"/>
          <p:cNvSpPr txBox="1"/>
          <p:nvPr/>
        </p:nvSpPr>
        <p:spPr>
          <a:xfrm>
            <a:off x="3550000" y="3560000"/>
            <a:ext cx="21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连接 fw1 与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Linux root 命名空间</a:t>
            </a:r>
            <a:endParaRPr lang="zh-CN" sz="1400"/>
          </a:p>
        </p:txBody>
      </p:sp>
      <p:cxnSp>
        <p:nvCxnSpPr>
          <p:cNvPr id="61" name="Line 61"/>
          <p:cNvCxnSpPr/>
          <p:nvPr/>
        </p:nvCxnSpPr>
        <p:spPr>
          <a:xfrm>
            <a:off x="5870000" y="3240000"/>
            <a:ext cx="350000" cy="0"/>
          </a:xfrm>
          <a:prstGeom prst="line">
            <a:avLst/>
          </a:prstGeom>
          <a:ln w="30000">
            <a:solidFill>
              <a:srgbClr val="2A9D8F"/>
            </a:solidFill>
            <a:tailEnd type="none"/>
            <a:headEnd type="triangle"/>
          </a:ln>
        </p:spPr>
      </p:cxnSp>
      <p:sp>
        <p:nvSpPr>
          <p:cNvPr id="22" name="Text 22"/>
          <p:cNvSpPr txBox="1"/>
          <p:nvPr/>
        </p:nvSpPr>
        <p:spPr>
          <a:xfrm>
            <a:off x="6220000" y="2390000"/>
            <a:ext cx="2500000" cy="1720000"/>
          </a:xfrm>
          <a:prstGeom prst="roundRect">
            <a:avLst/>
          </a:prstGeom>
          <a:solidFill>
            <a:srgbClr val="FFF0E1"/>
          </a:solidFill>
          <a:ln w="12700">
            <a:solidFill>
              <a:srgbClr val="F4A26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2" name="Circle 32"/>
          <p:cNvSpPr/>
          <p:nvPr/>
        </p:nvSpPr>
        <p:spPr>
          <a:xfrm>
            <a:off x="6400000" y="2560000"/>
            <a:ext cx="470000" cy="47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 lang="zh-CN" sz="1200"/>
          </a:p>
        </p:txBody>
      </p:sp>
      <p:sp>
        <p:nvSpPr>
          <p:cNvPr id="42" name="Text 42"/>
          <p:cNvSpPr txBox="1"/>
          <p:nvPr/>
        </p:nvSpPr>
        <p:spPr>
          <a:xfrm>
            <a:off x="6400000" y="3160000"/>
            <a:ext cx="21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900" b="1" dirty="0">
                <a:solidFill>
                  <a:srgbClr val="102A43"/>
                </a:solidFill>
                <a:latin typeface="Microsoft YaHei"/>
                <a:ea typeface="Microsoft YaHei"/>
              </a:rPr>
              <a:t>802.1Q 子接口</a:t>
            </a:r>
            <a:endParaRPr lang="zh-CN" sz="1900"/>
          </a:p>
        </p:txBody>
      </p:sp>
      <p:sp>
        <p:nvSpPr>
          <p:cNvPr id="52" name="Text 52"/>
          <p:cNvSpPr txBox="1"/>
          <p:nvPr/>
        </p:nvSpPr>
        <p:spPr>
          <a:xfrm>
            <a:off x="6400000" y="3560000"/>
            <a:ext cx="21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为每个 VLAN 配置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虚拟网关 .1</a:t>
            </a:r>
            <a:endParaRPr lang="zh-CN" sz="1400"/>
          </a:p>
        </p:txBody>
      </p:sp>
      <p:cxnSp>
        <p:nvCxnSpPr>
          <p:cNvPr id="62" name="Line 62"/>
          <p:cNvCxnSpPr/>
          <p:nvPr/>
        </p:nvCxnSpPr>
        <p:spPr>
          <a:xfrm>
            <a:off x="8720000" y="3240000"/>
            <a:ext cx="350000" cy="0"/>
          </a:xfrm>
          <a:prstGeom prst="line">
            <a:avLst/>
          </a:prstGeom>
          <a:ln w="30000">
            <a:solidFill>
              <a:srgbClr val="F4A261"/>
            </a:solidFill>
            <a:tailEnd type="none"/>
            <a:headEnd type="triangle"/>
          </a:ln>
        </p:spPr>
      </p:cxnSp>
      <p:sp>
        <p:nvSpPr>
          <p:cNvPr id="23" name="Text 23"/>
          <p:cNvSpPr txBox="1"/>
          <p:nvPr/>
        </p:nvSpPr>
        <p:spPr>
          <a:xfrm>
            <a:off x="9070000" y="2390000"/>
            <a:ext cx="2500000" cy="1720000"/>
          </a:xfrm>
          <a:prstGeom prst="roundRect">
            <a:avLst/>
          </a:prstGeom>
          <a:solidFill>
            <a:srgbClr val="FCE9E5"/>
          </a:solidFill>
          <a:ln w="12700">
            <a:solidFill>
              <a:srgbClr val="E76F5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3" name="Circle 33"/>
          <p:cNvSpPr/>
          <p:nvPr/>
        </p:nvSpPr>
        <p:spPr>
          <a:xfrm>
            <a:off x="9250000" y="2560000"/>
            <a:ext cx="470000" cy="4700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 lang="zh-CN" sz="1200"/>
          </a:p>
        </p:txBody>
      </p:sp>
      <p:sp>
        <p:nvSpPr>
          <p:cNvPr id="43" name="Text 43"/>
          <p:cNvSpPr txBox="1"/>
          <p:nvPr/>
        </p:nvSpPr>
        <p:spPr>
          <a:xfrm>
            <a:off x="9250000" y="3160000"/>
            <a:ext cx="21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900" b="1" dirty="0">
                <a:solidFill>
                  <a:srgbClr val="102A43"/>
                </a:solidFill>
                <a:latin typeface="Microsoft YaHei"/>
                <a:ea typeface="Microsoft YaHei"/>
              </a:rPr>
              <a:t>IP Forward</a:t>
            </a:r>
            <a:endParaRPr lang="zh-CN" sz="1900"/>
          </a:p>
        </p:txBody>
      </p:sp>
      <p:sp>
        <p:nvSpPr>
          <p:cNvPr id="53" name="Text 53"/>
          <p:cNvSpPr txBox="1"/>
          <p:nvPr/>
        </p:nvSpPr>
        <p:spPr>
          <a:xfrm>
            <a:off x="9250000" y="3560000"/>
            <a:ext cx="21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Linux 内核承担</a:t>
            </a:r>
            <a:endParaRPr lang="zh-CN" sz="1400"/>
          </a:p>
          <a:p>
            <a:pPr algn="l"/>
            <a:r>
              <a:rPr lang="zh-CN" sz="1400" b="0" dirty="0">
                <a:solidFill>
                  <a:srgbClr val="627D98"/>
                </a:solidFill>
                <a:latin typeface="Microsoft YaHei"/>
                <a:ea typeface="Microsoft YaHei"/>
              </a:rPr>
              <a:t>跨 VLAN 三层转发</a:t>
            </a:r>
            <a:endParaRPr lang="zh-CN" sz="1400"/>
          </a:p>
        </p:txBody>
      </p:sp>
      <p:sp>
        <p:nvSpPr>
          <p:cNvPr id="70" name="Text 70"/>
          <p:cNvSpPr txBox="1"/>
          <p:nvPr/>
        </p:nvSpPr>
        <p:spPr>
          <a:xfrm>
            <a:off x="520000" y="4580000"/>
            <a:ext cx="5350000" cy="112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2A9D8F"/>
            </a:solidFill>
          </a:ln>
        </p:spPr>
        <p:txBody>
          <a:bodyPr wrap="square" anchor="mid" lIns="240000" rIns="240000" tIns="120000" bIns="120000"/>
          <a:lstStyle/>
          <a:p>
            <a:pPr algn="l"/>
            <a:r>
              <a:rPr lang="zh-CN" sz="1700" b="1" dirty="0">
                <a:solidFill>
                  <a:srgbClr val="183B56"/>
                </a:solidFill>
                <a:latin typeface="Microsoft YaHei"/>
                <a:ea typeface="Microsoft YaHei"/>
              </a:rPr>
              <a:t>iptables · 有状态边界防火墙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83B56"/>
                </a:solidFill>
                <a:latin typeface="Microsoft YaHei"/>
                <a:ea typeface="Microsoft YaHei"/>
              </a:rPr>
              <a:t>允许返回流量，拒绝外部主动入侵与 DMZ 横向移动</a:t>
            </a:r>
            <a:endParaRPr lang="zh-CN" sz="1700"/>
          </a:p>
        </p:txBody>
      </p:sp>
      <p:sp>
        <p:nvSpPr>
          <p:cNvPr id="71" name="Text 71"/>
          <p:cNvSpPr txBox="1"/>
          <p:nvPr/>
        </p:nvSpPr>
        <p:spPr>
          <a:xfrm>
            <a:off x="6240000" y="4580000"/>
            <a:ext cx="5430000" cy="1120000"/>
          </a:xfrm>
          <a:prstGeom prst="roundRect">
            <a:avLst/>
          </a:prstGeom>
          <a:solidFill>
            <a:srgbClr val="FFF0E1"/>
          </a:solidFill>
          <a:ln w="12700">
            <a:solidFill>
              <a:srgbClr val="F4A261"/>
            </a:solidFill>
          </a:ln>
        </p:spPr>
        <p:txBody>
          <a:bodyPr wrap="square" anchor="mid" lIns="240000" rIns="240000" tIns="120000" bIns="120000"/>
          <a:lstStyle/>
          <a:p>
            <a:pPr algn="l"/>
            <a:r>
              <a:rPr lang="zh-CN" sz="1700" b="1" dirty="0">
                <a:solidFill>
                  <a:srgbClr val="183B56"/>
                </a:solidFill>
                <a:latin typeface="Microsoft YaHei"/>
                <a:ea typeface="Microsoft YaHei"/>
              </a:rPr>
              <a:t>OVS OpenFlow ACL · 高性能精确匹配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83B56"/>
                </a:solidFill>
                <a:latin typeface="Microsoft YaHei"/>
                <a:ea typeface="Microsoft YaHei"/>
              </a:rPr>
              <a:t>按源 / 目的网段与优先级控制宿舍、访客、敏感部门</a:t>
            </a:r>
            <a:endParaRPr lang="zh-CN" sz="1700"/>
          </a:p>
        </p:txBody>
      </p:sp>
      <p:sp>
        <p:nvSpPr>
          <p:cNvPr id="72" name="Text 72"/>
          <p:cNvSpPr txBox="1"/>
          <p:nvPr/>
        </p:nvSpPr>
        <p:spPr>
          <a:xfrm>
            <a:off x="520000" y="5940000"/>
            <a:ext cx="111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500" b="1" dirty="0">
                <a:solidFill>
                  <a:srgbClr val="102A43"/>
                </a:solidFill>
                <a:latin typeface="Microsoft YaHei"/>
                <a:ea typeface="Microsoft YaHei"/>
              </a:rPr>
              <a:t>设计取舍：OVS 专注二层转发与 ACL，Linux 专注成熟稳定的三层协议栈。</a:t>
            </a:r>
            <a:endParaRPr lang="zh-CN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80000" y="2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100" b="1" dirty="0">
                <a:solidFill>
                  <a:srgbClr val="2A9D8F"/>
                </a:solidFill>
                <a:latin typeface="Microsoft YaHei"/>
                <a:ea typeface="Microsoft YaHei"/>
              </a:rPr>
              <a:t>05 / 项目亮点</a:t>
            </a:r>
            <a:endParaRPr lang="zh-CN" sz="1100"/>
          </a:p>
        </p:txBody>
      </p:sp>
      <p:sp>
        <p:nvSpPr>
          <p:cNvPr id="3" name="Text 3"/>
          <p:cNvSpPr txBox="1"/>
          <p:nvPr/>
        </p:nvSpPr>
        <p:spPr>
          <a:xfrm>
            <a:off x="480000" y="530000"/>
            <a:ext cx="104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700" b="1" dirty="0">
                <a:solidFill>
                  <a:srgbClr val="102A43"/>
                </a:solidFill>
                <a:latin typeface="Microsoft YaHei"/>
                <a:ea typeface="Microsoft YaHei"/>
              </a:rPr>
              <a:t>四个最值得展示的亮点</a:t>
            </a:r>
            <a:endParaRPr lang="zh-CN" sz="2700"/>
          </a:p>
        </p:txBody>
      </p:sp>
      <p:cxnSp>
        <p:nvCxnSpPr>
          <p:cNvPr id="4" name="Line 4"/>
          <p:cNvCxnSpPr/>
          <p:nvPr/>
        </p:nvCxnSpPr>
        <p:spPr>
          <a:xfrm>
            <a:off x="480000" y="1160000"/>
            <a:ext cx="11200000" cy="0"/>
          </a:xfrm>
          <a:prstGeom prst="line">
            <a:avLst/>
          </a:prstGeom>
          <a:ln w="14000">
            <a:solidFill>
              <a:srgbClr val="C7D8E0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11100000" y="63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r"/>
            <a:r>
              <a:rPr lang="zh-CN" sz="1000" b="1" dirty="0">
                <a:solidFill>
                  <a:srgbClr val="627D98"/>
                </a:solidFill>
                <a:latin typeface="Microsoft YaHei"/>
                <a:ea typeface="Microsoft YaHei"/>
              </a:rPr>
              <a:t>06</a:t>
            </a:r>
            <a:endParaRPr lang="zh-CN" sz="1000"/>
          </a:p>
        </p:txBody>
      </p:sp>
      <p:sp>
        <p:nvSpPr>
          <p:cNvPr id="10" name="Text 10"/>
          <p:cNvSpPr txBox="1"/>
          <p:nvPr/>
        </p:nvSpPr>
        <p:spPr>
          <a:xfrm>
            <a:off x="520000" y="1510000"/>
            <a:ext cx="5300000" cy="1950000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102A43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0" name="Circle 20"/>
          <p:cNvSpPr/>
          <p:nvPr/>
        </p:nvSpPr>
        <p:spPr>
          <a:xfrm>
            <a:off x="750000" y="1740000"/>
            <a:ext cx="550000" cy="550000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lang="zh-CN" sz="1300"/>
          </a:p>
        </p:txBody>
      </p:sp>
      <p:sp>
        <p:nvSpPr>
          <p:cNvPr id="30" name="Text 30"/>
          <p:cNvSpPr txBox="1"/>
          <p:nvPr/>
        </p:nvSpPr>
        <p:spPr>
          <a:xfrm>
            <a:off x="1490000" y="1720000"/>
            <a:ext cx="4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1" dirty="0">
                <a:solidFill>
                  <a:srgbClr val="102A43"/>
                </a:solidFill>
                <a:latin typeface="Microsoft YaHei"/>
                <a:ea typeface="Microsoft YaHei"/>
              </a:rPr>
              <a:t>三臂防火墙 + DMZ</a:t>
            </a:r>
            <a:endParaRPr lang="zh-CN" sz="2000"/>
          </a:p>
        </p:txBody>
      </p:sp>
      <p:sp>
        <p:nvSpPr>
          <p:cNvPr id="40" name="Text 40"/>
          <p:cNvSpPr txBox="1"/>
          <p:nvPr/>
        </p:nvSpPr>
        <p:spPr>
          <a:xfrm>
            <a:off x="1490000" y="2270000"/>
            <a:ext cx="40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公网、DMZ、内网三区分离</a:t>
            </a:r>
            <a:endParaRPr lang="zh-CN" sz="1500"/>
          </a:p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所有跨区流量统一经过 fw1</a:t>
            </a:r>
            <a:endParaRPr lang="zh-CN" sz="1500"/>
          </a:p>
        </p:txBody>
      </p:sp>
      <p:sp>
        <p:nvSpPr>
          <p:cNvPr id="11" name="Text 11"/>
          <p:cNvSpPr txBox="1"/>
          <p:nvPr/>
        </p:nvSpPr>
        <p:spPr>
          <a:xfrm>
            <a:off x="6220000" y="1510000"/>
            <a:ext cx="5300000" cy="1950000"/>
          </a:xfrm>
          <a:prstGeom prst="roundRect">
            <a:avLst/>
          </a:prstGeom>
          <a:solidFill>
            <a:srgbClr val="E8F5F2"/>
          </a:solidFill>
          <a:ln w="12700">
            <a:solidFill>
              <a:srgbClr val="176B87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1" name="Circle 21"/>
          <p:cNvSpPr/>
          <p:nvPr/>
        </p:nvSpPr>
        <p:spPr>
          <a:xfrm>
            <a:off x="6450000" y="1740000"/>
            <a:ext cx="550000" cy="55000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 lang="zh-CN" sz="1300"/>
          </a:p>
        </p:txBody>
      </p:sp>
      <p:sp>
        <p:nvSpPr>
          <p:cNvPr id="31" name="Text 31"/>
          <p:cNvSpPr txBox="1"/>
          <p:nvPr/>
        </p:nvSpPr>
        <p:spPr>
          <a:xfrm>
            <a:off x="7190000" y="1720000"/>
            <a:ext cx="4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1" dirty="0">
                <a:solidFill>
                  <a:srgbClr val="102A43"/>
                </a:solidFill>
                <a:latin typeface="Microsoft YaHei"/>
                <a:ea typeface="Microsoft YaHei"/>
              </a:rPr>
              <a:t>GRE VPN 安全接入</a:t>
            </a:r>
            <a:endParaRPr lang="zh-CN" sz="2000"/>
          </a:p>
        </p:txBody>
      </p:sp>
      <p:sp>
        <p:nvSpPr>
          <p:cNvPr id="41" name="Text 41"/>
          <p:cNvSpPr txBox="1"/>
          <p:nvPr/>
        </p:nvSpPr>
        <p:spPr>
          <a:xfrm>
            <a:off x="7190000" y="2270000"/>
            <a:ext cx="40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开启后通过隧道访问授权资源</a:t>
            </a:r>
            <a:endParaRPr lang="zh-CN" sz="1500"/>
          </a:p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关闭后公网不能直达内网</a:t>
            </a:r>
            <a:endParaRPr lang="zh-CN" sz="1500"/>
          </a:p>
        </p:txBody>
      </p:sp>
      <p:sp>
        <p:nvSpPr>
          <p:cNvPr id="12" name="Text 12"/>
          <p:cNvSpPr txBox="1"/>
          <p:nvPr/>
        </p:nvSpPr>
        <p:spPr>
          <a:xfrm>
            <a:off x="520000" y="3810000"/>
            <a:ext cx="5300000" cy="1950000"/>
          </a:xfrm>
          <a:prstGeom prst="roundRect">
            <a:avLst/>
          </a:prstGeom>
          <a:solidFill>
            <a:srgbClr val="FCE9E5"/>
          </a:solidFill>
          <a:ln w="12700">
            <a:solidFill>
              <a:srgbClr val="E76F5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2" name="Circle 22"/>
          <p:cNvSpPr/>
          <p:nvPr/>
        </p:nvSpPr>
        <p:spPr>
          <a:xfrm>
            <a:off x="750000" y="4040000"/>
            <a:ext cx="550000" cy="5500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 lang="zh-CN" sz="1300"/>
          </a:p>
        </p:txBody>
      </p:sp>
      <p:sp>
        <p:nvSpPr>
          <p:cNvPr id="32" name="Text 32"/>
          <p:cNvSpPr txBox="1"/>
          <p:nvPr/>
        </p:nvSpPr>
        <p:spPr>
          <a:xfrm>
            <a:off x="1490000" y="4020000"/>
            <a:ext cx="4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1" dirty="0">
                <a:solidFill>
                  <a:srgbClr val="102A43"/>
                </a:solidFill>
                <a:latin typeface="Microsoft YaHei"/>
                <a:ea typeface="Microsoft YaHei"/>
              </a:rPr>
              <a:t>双层安全防护</a:t>
            </a:r>
            <a:endParaRPr lang="zh-CN" sz="2000"/>
          </a:p>
        </p:txBody>
      </p:sp>
      <p:sp>
        <p:nvSpPr>
          <p:cNvPr id="42" name="Text 42"/>
          <p:cNvSpPr txBox="1"/>
          <p:nvPr/>
        </p:nvSpPr>
        <p:spPr>
          <a:xfrm>
            <a:off x="1490000" y="4570000"/>
            <a:ext cx="40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iptables 有状态策略 + OVS ACL</a:t>
            </a:r>
            <a:endParaRPr lang="zh-CN" sz="1500"/>
          </a:p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兼顾状态判断与高优先级阻断</a:t>
            </a:r>
            <a:endParaRPr lang="zh-CN" sz="1500"/>
          </a:p>
        </p:txBody>
      </p:sp>
      <p:sp>
        <p:nvSpPr>
          <p:cNvPr id="13" name="Text 13"/>
          <p:cNvSpPr txBox="1"/>
          <p:nvPr/>
        </p:nvSpPr>
        <p:spPr>
          <a:xfrm>
            <a:off x="6220000" y="3810000"/>
            <a:ext cx="5300000" cy="1950000"/>
          </a:xfrm>
          <a:prstGeom prst="roundRect">
            <a:avLst/>
          </a:prstGeom>
          <a:solidFill>
            <a:srgbClr val="FFF0E1"/>
          </a:solidFill>
          <a:ln w="12700">
            <a:solidFill>
              <a:srgbClr val="F4A261"/>
            </a:solidFill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23" name="Circle 23"/>
          <p:cNvSpPr/>
          <p:nvPr/>
        </p:nvSpPr>
        <p:spPr>
          <a:xfrm>
            <a:off x="6450000" y="4040000"/>
            <a:ext cx="550000" cy="550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="ctr" lIns="50000" rIns="50000" tIns="0" bIns="0"/>
          <a:lstStyle/>
          <a:p>
            <a:pPr algn="ctr"/>
            <a:r>
              <a:rPr lang="zh-CN" sz="1300" b="1" dirty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 lang="zh-CN" sz="1300"/>
          </a:p>
        </p:txBody>
      </p:sp>
      <p:sp>
        <p:nvSpPr>
          <p:cNvPr id="33" name="Text 33"/>
          <p:cNvSpPr txBox="1"/>
          <p:nvPr/>
        </p:nvSpPr>
        <p:spPr>
          <a:xfrm>
            <a:off x="7190000" y="4020000"/>
            <a:ext cx="4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1" dirty="0">
                <a:solidFill>
                  <a:srgbClr val="102A43"/>
                </a:solidFill>
                <a:latin typeface="Microsoft YaHei"/>
                <a:ea typeface="Microsoft YaHei"/>
              </a:rPr>
              <a:t>真实数据驱动前端</a:t>
            </a:r>
            <a:endParaRPr lang="zh-CN" sz="2000"/>
          </a:p>
        </p:txBody>
      </p:sp>
      <p:sp>
        <p:nvSpPr>
          <p:cNvPr id="43" name="Text 43"/>
          <p:cNvSpPr txBox="1"/>
          <p:nvPr/>
        </p:nvSpPr>
        <p:spPr>
          <a:xfrm>
            <a:off x="7190000" y="4570000"/>
            <a:ext cx="40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Ping、路径、吞吐、策略命中均来自后端</a:t>
            </a:r>
            <a:endParaRPr lang="zh-CN" sz="1500"/>
          </a:p>
          <a:p>
            <a:pPr algn="l"/>
            <a:r>
              <a:rPr lang="zh-CN" sz="1500" b="0" dirty="0">
                <a:solidFill>
                  <a:srgbClr val="183B56"/>
                </a:solidFill>
                <a:latin typeface="Microsoft YaHei"/>
                <a:ea typeface="Microsoft YaHei"/>
              </a:rPr>
              <a:t>形成指令—执行—反馈闭环</a:t>
            </a:r>
            <a:endParaRPr lang="zh-CN" sz="1500"/>
          </a:p>
        </p:txBody>
      </p:sp>
      <p:sp>
        <p:nvSpPr>
          <p:cNvPr id="50" name="Text 50"/>
          <p:cNvSpPr txBox="1"/>
          <p:nvPr/>
        </p:nvSpPr>
        <p:spPr>
          <a:xfrm>
            <a:off x="520000" y="612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600" b="1" dirty="0">
                <a:solidFill>
                  <a:srgbClr val="102A43"/>
                </a:solidFill>
                <a:latin typeface="Microsoft YaHei"/>
                <a:ea typeface="Microsoft YaHei"/>
              </a:rPr>
              <a:t>亮点不在“功能堆叠”，而在架构、安全、验证和展示形成了完整闭环。</a:t>
            </a:r>
            <a:endParaRPr lang="zh-CN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183B56"/>
                </a:solidFill>
                <a:latin typeface="Microsoft YaHei"/>
                <a:ea typeface="Microsoft YaHei"/>
              </a:rPr>
              <a:t/>
            </a:r>
            <a:endParaRPr lang="zh-CN" sz="2000"/>
          </a:p>
        </p:txBody>
      </p:sp>
      <p:sp>
        <p:nvSpPr>
          <p:cNvPr id="3" name="Text 3"/>
          <p:cNvSpPr txBox="1"/>
          <p:nvPr/>
        </p:nvSpPr>
        <p:spPr>
          <a:xfrm>
            <a:off x="650000" y="650000"/>
            <a:ext cx="25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1200" b="1" dirty="0">
                <a:solidFill>
                  <a:srgbClr val="F4A261"/>
                </a:solidFill>
                <a:latin typeface="Microsoft YaHei"/>
                <a:ea typeface="Microsoft YaHei"/>
              </a:rPr>
              <a:t>06 / 总结</a:t>
            </a:r>
            <a:endParaRPr lang="zh-CN" sz="1200"/>
          </a:p>
        </p:txBody>
      </p:sp>
      <p:sp>
        <p:nvSpPr>
          <p:cNvPr id="4" name="Text 4"/>
          <p:cNvSpPr txBox="1"/>
          <p:nvPr/>
        </p:nvSpPr>
        <p:spPr>
          <a:xfrm>
            <a:off x="650000" y="1250000"/>
            <a:ext cx="7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让校园网真正跑起来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650000" y="2130000"/>
            <a:ext cx="70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0" dirty="0">
                <a:solidFill>
                  <a:srgbClr val="D9EAF0"/>
                </a:solidFill>
                <a:latin typeface="Microsoft YaHei"/>
                <a:ea typeface="Microsoft YaHei"/>
              </a:rPr>
              <a:t>从结构设计，到策略执行，再到运行观测</a:t>
            </a:r>
            <a:endParaRPr lang="zh-CN" sz="2000"/>
          </a:p>
        </p:txBody>
      </p:sp>
      <p:sp>
        <p:nvSpPr>
          <p:cNvPr id="6" name="Text 6"/>
          <p:cNvSpPr txBox="1"/>
          <p:nvPr/>
        </p:nvSpPr>
        <p:spPr>
          <a:xfrm>
            <a:off x="650000" y="3300000"/>
            <a:ext cx="2650000" cy="1120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800" b="1" dirty="0">
                <a:solidFill>
                  <a:srgbClr val="102A43"/>
                </a:solidFill>
                <a:latin typeface="Microsoft YaHei"/>
                <a:ea typeface="Microsoft YaHei"/>
              </a:rPr>
              <a:t>设计出来</a:t>
            </a:r>
            <a:endParaRPr lang="zh-CN" sz="1800"/>
          </a:p>
          <a:p>
            <a:pPr algn="ctr"/>
            <a:r>
              <a:rPr lang="zh-CN" sz="1800" b="1" dirty="0">
                <a:solidFill>
                  <a:srgbClr val="102A43"/>
                </a:solidFill>
                <a:latin typeface="Microsoft YaHei"/>
                <a:ea typeface="Microsoft YaHei"/>
              </a:rPr>
              <a:t>分层架构与地址规划</a:t>
            </a:r>
            <a:endParaRPr lang="zh-CN" sz="1800"/>
          </a:p>
        </p:txBody>
      </p:sp>
      <p:sp>
        <p:nvSpPr>
          <p:cNvPr id="7" name="Text 7"/>
          <p:cNvSpPr txBox="1"/>
          <p:nvPr/>
        </p:nvSpPr>
        <p:spPr>
          <a:xfrm>
            <a:off x="3450000" y="3300000"/>
            <a:ext cx="2650000" cy="11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800" b="1" dirty="0">
                <a:solidFill>
                  <a:srgbClr val="102A43"/>
                </a:solidFill>
                <a:latin typeface="Microsoft YaHei"/>
                <a:ea typeface="Microsoft YaHei"/>
              </a:rPr>
              <a:t>运行起来</a:t>
            </a:r>
            <a:endParaRPr lang="zh-CN" sz="1800"/>
          </a:p>
          <a:p>
            <a:pPr algn="ctr"/>
            <a:r>
              <a:rPr lang="zh-CN" sz="1800" b="1" dirty="0">
                <a:solidFill>
                  <a:srgbClr val="102A43"/>
                </a:solidFill>
                <a:latin typeface="Microsoft YaHei"/>
                <a:ea typeface="Microsoft YaHei"/>
              </a:rPr>
              <a:t>路由、ACL、DMZ、VPN</a:t>
            </a:r>
            <a:endParaRPr lang="zh-CN" sz="1800"/>
          </a:p>
        </p:txBody>
      </p:sp>
      <p:sp>
        <p:nvSpPr>
          <p:cNvPr id="8" name="Text 8"/>
          <p:cNvSpPr txBox="1"/>
          <p:nvPr/>
        </p:nvSpPr>
        <p:spPr>
          <a:xfrm>
            <a:off x="6250000" y="3300000"/>
            <a:ext cx="2650000" cy="1120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mid" lIns="110000" rIns="110000" tIns="55000" bIns="55000"/>
          <a:lstStyle/>
          <a:p>
            <a:pPr algn="ctr"/>
            <a:r>
              <a:rPr lang="zh-CN" sz="1800" b="1" dirty="0">
                <a:solidFill>
                  <a:srgbClr val="102A43"/>
                </a:solidFill>
                <a:latin typeface="Microsoft YaHei"/>
                <a:ea typeface="Microsoft YaHei"/>
              </a:rPr>
              <a:t>看得见</a:t>
            </a:r>
            <a:endParaRPr lang="zh-CN" sz="1800"/>
          </a:p>
          <a:p>
            <a:pPr algn="ctr"/>
            <a:r>
              <a:rPr lang="zh-CN" sz="1800" b="1" dirty="0">
                <a:solidFill>
                  <a:srgbClr val="102A43"/>
                </a:solidFill>
                <a:latin typeface="Microsoft YaHei"/>
                <a:ea typeface="Microsoft YaHei"/>
              </a:rPr>
              <a:t>真实测量与路径反馈</a:t>
            </a:r>
            <a:endParaRPr lang="zh-CN" sz="1800"/>
          </a:p>
        </p:txBody>
      </p:sp>
      <p:sp>
        <p:nvSpPr>
          <p:cNvPr id="9" name="Text 9"/>
          <p:cNvSpPr txBox="1"/>
          <p:nvPr/>
        </p:nvSpPr>
        <p:spPr>
          <a:xfrm>
            <a:off x="650000" y="535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l"/>
            <a:r>
              <a:rPr lang="zh-CN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把课本中的网络原理，变成一套可运行、可验证、可扩展的工程系统。</a:t>
            </a:r>
            <a:endParaRPr lang="zh-CN" sz="2000"/>
          </a:p>
        </p:txBody>
      </p:sp>
      <p:sp>
        <p:nvSpPr>
          <p:cNvPr id="10" name="Text 10"/>
          <p:cNvSpPr txBox="1"/>
          <p:nvPr/>
        </p:nvSpPr>
        <p:spPr>
          <a:xfrm>
            <a:off x="10200000" y="5350000"/>
            <a:ext cx="125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110000" rIns="110000" tIns="55000" bIns="55000"/>
          <a:lstStyle/>
          <a:p>
            <a:pPr algn="r"/>
            <a:r>
              <a:rPr lang="zh-CN" sz="2400" b="1" dirty="0">
                <a:solidFill>
                  <a:srgbClr val="F4A261"/>
                </a:solidFill>
                <a:latin typeface="Microsoft YaHei"/>
                <a:ea typeface="Microsoft YaHei"/>
              </a:rPr>
              <a:t>谢谢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Blueprint">
  <a:themeElements>
    <a:clrScheme name="Campus">
      <a:dk1>
        <a:srgbClr val="102A43"/>
      </a:dk1>
      <a:lt1>
        <a:srgbClr val="FFFFFF"/>
      </a:lt1>
      <a:dk2>
        <a:srgbClr val="183B56"/>
      </a:dk2>
      <a:lt2>
        <a:srgbClr val="F7F4ED"/>
      </a:lt2>
      <a:accent1>
        <a:srgbClr val="176B87"/>
      </a:accent1>
      <a:accent2>
        <a:srgbClr val="2A9D8F"/>
      </a:accent2>
      <a:accent3>
        <a:srgbClr val="F4A261"/>
      </a:accent3>
      <a:accent4>
        <a:srgbClr val="E76F51"/>
      </a:accent4>
      <a:accent5>
        <a:srgbClr val="5B8FA3"/>
      </a:accent5>
      <a:accent6>
        <a:srgbClr val="829AB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Campus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7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Mininet 的校园网构建</dc:title>
  <dc:creator>第十二组</dc:creator>
  <cp:lastModifiedBy>Codex</cp:lastModifiedBy>
  <dcterms:created xsi:type="dcterms:W3CDTF">2026-06-11T00:00:00Z</dcterms:created>
</cp:coreProperties>
</file>